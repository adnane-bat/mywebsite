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1B2A56"/>
          </a:solidFill>
          <a:ln/>
        </p:spPr>
      </p:sp>
      <p:sp>
        <p:nvSpPr>
          <p:cNvPr id="3" name="Text 1"/>
          <p:cNvSpPr txBox="1"/>
          <p:nvPr/>
        </p:nvSpPr>
        <p:spPr>
          <a:xfrm>
            <a:off x="365760" y="146304"/>
            <a:ext cx="11460175"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TABLEAU DE BORD – SUIVI DES PROJETS</a:t>
            </a:r>
            <a:endParaRPr lang="en-US" sz="2600" dirty="0"/>
          </a:p>
        </p:txBody>
      </p:sp>
      <p:sp>
        <p:nvSpPr>
          <p:cNvPr id="4" name="Text 2"/>
          <p:cNvSpPr txBox="1"/>
          <p:nvPr/>
        </p:nvSpPr>
        <p:spPr>
          <a:xfrm>
            <a:off x="365760" y="621792"/>
            <a:ext cx="10728655" cy="320040"/>
          </a:xfrm>
          <a:prstGeom prst="rect">
            <a:avLst/>
          </a:prstGeom>
          <a:noFill/>
          <a:ln/>
        </p:spPr>
        <p:txBody>
          <a:bodyPr wrap="square" lIns="0" tIns="0" rIns="0" bIns="0"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Développement / Maintenance / Mise à jour</a:t>
            </a:r>
            <a:endParaRPr lang="en-US" sz="1300" dirty="0"/>
          </a:p>
        </p:txBody>
      </p:sp>
      <p:sp>
        <p:nvSpPr>
          <p:cNvPr id="5" name="Text 3"/>
          <p:cNvSpPr txBox="1"/>
          <p:nvPr/>
        </p:nvSpPr>
        <p:spPr>
          <a:xfrm>
            <a:off x="11094415" y="621792"/>
            <a:ext cx="731520" cy="320040"/>
          </a:xfrm>
          <a:prstGeom prst="rect">
            <a:avLst/>
          </a:prstGeom>
          <a:noFill/>
          <a:ln/>
        </p:spPr>
        <p:txBody>
          <a:bodyPr wrap="square" lIns="0" tIns="0" rIns="0" bIns="0" rtlCol="0" anchor="ctr"/>
          <a:lstStyle/>
          <a:p>
            <a:pPr algn="r" indent="0" marL="0">
              <a:buNone/>
            </a:pPr>
            <a:r>
              <a:rPr lang="en-US" sz="1100" dirty="0">
                <a:solidFill>
                  <a:srgbClr val="CADCFC"/>
                </a:solidFill>
                <a:latin typeface="Calibri" pitchFamily="34" charset="0"/>
                <a:ea typeface="Calibri" pitchFamily="34" charset="-122"/>
                <a:cs typeface="Calibri" pitchFamily="34" charset="-120"/>
              </a:rPr>
              <a:t>1 / 3</a:t>
            </a:r>
            <a:endParaRPr lang="en-US" sz="1100" dirty="0"/>
          </a:p>
        </p:txBody>
      </p:sp>
      <p:sp>
        <p:nvSpPr>
          <p:cNvPr id="6" name="Shape 4"/>
          <p:cNvSpPr/>
          <p:nvPr/>
        </p:nvSpPr>
        <p:spPr>
          <a:xfrm>
            <a:off x="365760" y="1417320"/>
            <a:ext cx="11460175" cy="384048"/>
          </a:xfrm>
          <a:prstGeom prst="rect">
            <a:avLst/>
          </a:prstGeom>
          <a:solidFill>
            <a:srgbClr val="0F7173"/>
          </a:solidFill>
          <a:ln/>
        </p:spPr>
      </p:sp>
      <p:sp>
        <p:nvSpPr>
          <p:cNvPr id="7" name="Text 5"/>
          <p:cNvSpPr txBox="1"/>
          <p:nvPr/>
        </p:nvSpPr>
        <p:spPr>
          <a:xfrm>
            <a:off x="365760" y="1417320"/>
            <a:ext cx="146304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NOM PROJET</a:t>
            </a:r>
            <a:endParaRPr lang="en-US" sz="1050" dirty="0"/>
          </a:p>
        </p:txBody>
      </p:sp>
      <p:sp>
        <p:nvSpPr>
          <p:cNvPr id="8" name="Text 6"/>
          <p:cNvSpPr txBox="1"/>
          <p:nvPr/>
        </p:nvSpPr>
        <p:spPr>
          <a:xfrm>
            <a:off x="1874520" y="1417320"/>
            <a:ext cx="91440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STATUT</a:t>
            </a:r>
            <a:endParaRPr lang="en-US" sz="1050" dirty="0"/>
          </a:p>
        </p:txBody>
      </p:sp>
      <p:sp>
        <p:nvSpPr>
          <p:cNvPr id="9" name="Text 7"/>
          <p:cNvSpPr txBox="1"/>
          <p:nvPr/>
        </p:nvSpPr>
        <p:spPr>
          <a:xfrm>
            <a:off x="2880360" y="1417320"/>
            <a:ext cx="3246120" cy="384048"/>
          </a:xfrm>
          <a:prstGeom prst="rect">
            <a:avLst/>
          </a:prstGeom>
          <a:noFill/>
          <a:ln/>
        </p:spPr>
        <p:txBody>
          <a:bodyPr wrap="square" lIns="0" tIns="12700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DESCRIPTION</a:t>
            </a:r>
            <a:endParaRPr lang="en-US" sz="1050" dirty="0"/>
          </a:p>
        </p:txBody>
      </p:sp>
      <p:sp>
        <p:nvSpPr>
          <p:cNvPr id="10" name="Text 8"/>
          <p:cNvSpPr txBox="1"/>
          <p:nvPr/>
        </p:nvSpPr>
        <p:spPr>
          <a:xfrm>
            <a:off x="6217920" y="1417320"/>
            <a:ext cx="2286000" cy="384048"/>
          </a:xfrm>
          <a:prstGeom prst="rect">
            <a:avLst/>
          </a:prstGeom>
          <a:noFill/>
          <a:ln/>
        </p:spPr>
        <p:txBody>
          <a:bodyPr wrap="square" lIns="0" tIns="12700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À FAIRE</a:t>
            </a:r>
            <a:endParaRPr lang="en-US" sz="1050" dirty="0"/>
          </a:p>
        </p:txBody>
      </p:sp>
      <p:sp>
        <p:nvSpPr>
          <p:cNvPr id="11" name="Text 9"/>
          <p:cNvSpPr txBox="1"/>
          <p:nvPr/>
        </p:nvSpPr>
        <p:spPr>
          <a:xfrm>
            <a:off x="8595360" y="1417320"/>
            <a:ext cx="118872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ÉCHÉANCE</a:t>
            </a:r>
            <a:endParaRPr lang="en-US" sz="1050" dirty="0"/>
          </a:p>
        </p:txBody>
      </p:sp>
      <p:sp>
        <p:nvSpPr>
          <p:cNvPr id="12" name="Text 10"/>
          <p:cNvSpPr txBox="1"/>
          <p:nvPr/>
        </p:nvSpPr>
        <p:spPr>
          <a:xfrm>
            <a:off x="9875520" y="1417320"/>
            <a:ext cx="192024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RESPONSABLE</a:t>
            </a:r>
            <a:endParaRPr lang="en-US" sz="1050" dirty="0"/>
          </a:p>
        </p:txBody>
      </p:sp>
      <p:sp>
        <p:nvSpPr>
          <p:cNvPr id="13" name="Shape 11"/>
          <p:cNvSpPr/>
          <p:nvPr/>
        </p:nvSpPr>
        <p:spPr>
          <a:xfrm>
            <a:off x="365760" y="1801368"/>
            <a:ext cx="11460175" cy="1149858"/>
          </a:xfrm>
          <a:prstGeom prst="rect">
            <a:avLst/>
          </a:prstGeom>
          <a:solidFill>
            <a:srgbClr val="FFFFFF"/>
          </a:solidFill>
          <a:ln w="9525">
            <a:solidFill>
              <a:srgbClr val="E3E7EC"/>
            </a:solidFill>
            <a:prstDash val="solid"/>
          </a:ln>
        </p:spPr>
      </p:sp>
      <p:sp>
        <p:nvSpPr>
          <p:cNvPr id="14" name="Text 12"/>
          <p:cNvSpPr txBox="1"/>
          <p:nvPr/>
        </p:nvSpPr>
        <p:spPr>
          <a:xfrm>
            <a:off x="457200" y="1801368"/>
            <a:ext cx="1280160" cy="1149858"/>
          </a:xfrm>
          <a:prstGeom prst="rect">
            <a:avLst/>
          </a:prstGeom>
          <a:noFill/>
          <a:ln/>
        </p:spPr>
        <p:txBody>
          <a:bodyPr wrap="square" lIns="0" tIns="0" rIns="0" bIns="0" rtlCol="0" anchor="ctr"/>
          <a:lstStyle/>
          <a:p>
            <a:pPr algn="l" indent="0" marL="0">
              <a:buNone/>
            </a:pPr>
            <a:r>
              <a:rPr lang="en-US" sz="1150" b="1" dirty="0">
                <a:solidFill>
                  <a:srgbClr val="2A2A2A"/>
                </a:solidFill>
                <a:latin typeface="Calibri" pitchFamily="34" charset="0"/>
                <a:ea typeface="Calibri" pitchFamily="34" charset="-122"/>
                <a:cs typeface="Calibri" pitchFamily="34" charset="-120"/>
              </a:rPr>
              <a:t>PBI Recos DRCG</a:t>
            </a:r>
            <a:endParaRPr lang="en-US" sz="1150" dirty="0"/>
          </a:p>
        </p:txBody>
      </p:sp>
      <p:sp>
        <p:nvSpPr>
          <p:cNvPr id="15" name="Shape 13"/>
          <p:cNvSpPr/>
          <p:nvPr/>
        </p:nvSpPr>
        <p:spPr>
          <a:xfrm>
            <a:off x="1897380" y="2083689"/>
            <a:ext cx="868680" cy="256032"/>
          </a:xfrm>
          <a:prstGeom prst="roundRect">
            <a:avLst>
              <a:gd name="adj" fmla="val 28571"/>
            </a:avLst>
          </a:prstGeom>
          <a:solidFill>
            <a:srgbClr val="8C97A8"/>
          </a:solidFill>
          <a:ln/>
        </p:spPr>
      </p:sp>
      <p:sp>
        <p:nvSpPr>
          <p:cNvPr id="16" name="Text 14"/>
          <p:cNvSpPr txBox="1"/>
          <p:nvPr/>
        </p:nvSpPr>
        <p:spPr>
          <a:xfrm>
            <a:off x="1874520" y="2083689"/>
            <a:ext cx="91440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NON COMMENCÉ</a:t>
            </a:r>
            <a:endParaRPr lang="en-US" sz="800" dirty="0"/>
          </a:p>
        </p:txBody>
      </p:sp>
      <p:sp>
        <p:nvSpPr>
          <p:cNvPr id="17" name="Text 15"/>
          <p:cNvSpPr txBox="1"/>
          <p:nvPr/>
        </p:nvSpPr>
        <p:spPr>
          <a:xfrm>
            <a:off x="1874520" y="2431161"/>
            <a:ext cx="914400" cy="274320"/>
          </a:xfrm>
          <a:prstGeom prst="rect">
            <a:avLst/>
          </a:prstGeom>
          <a:noFill/>
          <a:ln/>
        </p:spPr>
        <p:txBody>
          <a:bodyPr wrap="square" lIns="0" tIns="0" rIns="0" bIns="0" rtlCol="0" anchor="ctr"/>
          <a:lstStyle/>
          <a:p>
            <a:pPr algn="ctr" indent="0" marL="0">
              <a:buNone/>
            </a:pPr>
            <a:r>
              <a:rPr lang="en-US" sz="1300" b="1" dirty="0">
                <a:solidFill>
                  <a:srgbClr val="2E7D32"/>
                </a:solidFill>
                <a:latin typeface="Calibri" pitchFamily="34" charset="0"/>
                <a:ea typeface="Calibri" pitchFamily="34" charset="-122"/>
                <a:cs typeface="Calibri" pitchFamily="34" charset="-120"/>
              </a:rPr>
              <a:t>0%</a:t>
            </a:r>
            <a:endParaRPr lang="en-US" sz="1300" dirty="0"/>
          </a:p>
        </p:txBody>
      </p:sp>
      <p:sp>
        <p:nvSpPr>
          <p:cNvPr id="18" name="Text 16"/>
          <p:cNvSpPr txBox="1"/>
          <p:nvPr/>
        </p:nvSpPr>
        <p:spPr>
          <a:xfrm>
            <a:off x="2880360" y="1856232"/>
            <a:ext cx="3108960" cy="1040130"/>
          </a:xfrm>
          <a:prstGeom prst="rect">
            <a:avLst/>
          </a:prstGeom>
          <a:noFill/>
          <a:ln/>
        </p:spPr>
        <p:txBody>
          <a:bodyPr wrap="square" lIns="0" tIns="0" rIns="0" bIns="0" rtlCol="0" anchor="ctr"/>
          <a:lstStyle/>
          <a:p>
            <a:pPr algn="l" indent="0" marL="0">
              <a:lnSpc>
                <a:spcPct val="105000"/>
              </a:lnSpc>
              <a:buNone/>
            </a:pPr>
            <a:r>
              <a:rPr lang="en-US" sz="900" i="1" dirty="0">
                <a:solidFill>
                  <a:srgbClr val="6B7280"/>
                </a:solidFill>
                <a:latin typeface="Calibri" pitchFamily="34" charset="0"/>
                <a:ea typeface="Calibri" pitchFamily="34" charset="-122"/>
                <a:cs typeface="Calibri" pitchFamily="34" charset="-120"/>
              </a:rPr>
              <a:t>Suivi synthétique et détaillé des recommandations sur l'ensemble des périmètres. Faire un PBI pour traiter et restituer les données de manière globale pour la DRCG. Que chaque direction ait la possibilité d'exporter les recommandations.</a:t>
            </a:r>
            <a:endParaRPr lang="en-US" sz="900" dirty="0"/>
          </a:p>
        </p:txBody>
      </p:sp>
      <p:sp>
        <p:nvSpPr>
          <p:cNvPr id="19" name="Text 17"/>
          <p:cNvSpPr txBox="1"/>
          <p:nvPr/>
        </p:nvSpPr>
        <p:spPr>
          <a:xfrm>
            <a:off x="6217920" y="1856232"/>
            <a:ext cx="2148840" cy="1040130"/>
          </a:xfrm>
          <a:prstGeom prst="rect">
            <a:avLst/>
          </a:prstGeom>
          <a:noFill/>
          <a:ln/>
        </p:spPr>
        <p:txBody>
          <a:bodyPr wrap="square" lIns="0" tIns="0" rIns="0" bIns="0" rtlCol="0" anchor="ctr"/>
          <a:lstStyle/>
          <a:p>
            <a:pPr algn="l" marL="342900" indent="-342900">
              <a:lnSpc>
                <a:spcPct val="105000"/>
              </a:lnSpc>
              <a:spcAft>
                <a:spcPts val="400"/>
              </a:spcAft>
              <a:buSzPct val="100000"/>
              <a:buChar char="•"/>
            </a:pPr>
            <a:r>
              <a:rPr lang="en-US" sz="950" dirty="0">
                <a:solidFill>
                  <a:srgbClr val="2A2A2A"/>
                </a:solidFill>
                <a:latin typeface="Calibri" pitchFamily="34" charset="0"/>
                <a:ea typeface="Calibri" pitchFamily="34" charset="-122"/>
                <a:cs typeface="Calibri" pitchFamily="34" charset="-120"/>
              </a:rPr>
              <a:t>PBI de suivi global des recommandations pour la DRCG</a:t>
            </a:r>
            <a:endParaRPr lang="en-US" sz="950" dirty="0"/>
          </a:p>
          <a:p>
            <a:pPr algn="l" marL="342900" indent="-342900">
              <a:lnSpc>
                <a:spcPct val="105000"/>
              </a:lnSpc>
              <a:spcAft>
                <a:spcPts val="400"/>
              </a:spcAft>
              <a:buSzPct val="100000"/>
              <a:buChar char="•"/>
            </a:pPr>
            <a:r>
              <a:rPr lang="en-US" sz="950" dirty="0">
                <a:solidFill>
                  <a:srgbClr val="2A2A2A"/>
                </a:solidFill>
                <a:latin typeface="Calibri" pitchFamily="34" charset="0"/>
                <a:ea typeface="Calibri" pitchFamily="34" charset="-122"/>
                <a:cs typeface="Calibri" pitchFamily="34" charset="-120"/>
              </a:rPr>
              <a:t>Permettre à chaque direction d'exporter ses recommandations</a:t>
            </a:r>
            <a:endParaRPr lang="en-US" sz="950" dirty="0"/>
          </a:p>
        </p:txBody>
      </p:sp>
      <p:sp>
        <p:nvSpPr>
          <p:cNvPr id="20" name="Text 18"/>
          <p:cNvSpPr txBox="1"/>
          <p:nvPr/>
        </p:nvSpPr>
        <p:spPr>
          <a:xfrm>
            <a:off x="8595360" y="1801368"/>
            <a:ext cx="1097280" cy="1149858"/>
          </a:xfrm>
          <a:prstGeom prst="rect">
            <a:avLst/>
          </a:prstGeom>
          <a:noFill/>
          <a:ln/>
        </p:spPr>
        <p:txBody>
          <a:bodyPr wrap="square" lIns="0" tIns="0" rIns="0" bIns="0" rtlCol="0" anchor="ctr"/>
          <a:lstStyle/>
          <a:p>
            <a:pPr algn="ctr" indent="0" marL="0">
              <a:buNone/>
            </a:pPr>
            <a:r>
              <a:rPr lang="en-US" sz="950" dirty="0">
                <a:solidFill>
                  <a:srgbClr val="2A2A2A"/>
                </a:solidFill>
                <a:latin typeface="Calibri" pitchFamily="34" charset="0"/>
                <a:ea typeface="Calibri" pitchFamily="34" charset="-122"/>
                <a:cs typeface="Calibri" pitchFamily="34" charset="-120"/>
              </a:rPr>
              <a:t>30/09/2026</a:t>
            </a:r>
            <a:endParaRPr lang="en-US" sz="950" dirty="0"/>
          </a:p>
        </p:txBody>
      </p:sp>
      <p:sp>
        <p:nvSpPr>
          <p:cNvPr id="21" name="Text 19"/>
          <p:cNvSpPr txBox="1"/>
          <p:nvPr/>
        </p:nvSpPr>
        <p:spPr>
          <a:xfrm>
            <a:off x="9875520" y="1801368"/>
            <a:ext cx="1828800" cy="1149858"/>
          </a:xfrm>
          <a:prstGeom prst="rect">
            <a:avLst/>
          </a:prstGeom>
          <a:noFill/>
          <a:ln/>
        </p:spPr>
        <p:txBody>
          <a:bodyPr wrap="square" lIns="0" tIns="0" rIns="0" bIns="0" rtlCol="0" anchor="ctr"/>
          <a:lstStyle/>
          <a:p>
            <a:pPr algn="ctr" indent="0" marL="0">
              <a:buNone/>
            </a:pPr>
            <a:r>
              <a:rPr lang="en-US" sz="1000" dirty="0">
                <a:solidFill>
                  <a:srgbClr val="2A2A2A"/>
                </a:solidFill>
                <a:latin typeface="Calibri" pitchFamily="34" charset="0"/>
                <a:ea typeface="Calibri" pitchFamily="34" charset="-122"/>
                <a:cs typeface="Calibri" pitchFamily="34" charset="-120"/>
              </a:rPr>
              <a:t>B.A / B.A.T</a:t>
            </a:r>
            <a:endParaRPr lang="en-US" sz="1000" dirty="0"/>
          </a:p>
          <a:p>
            <a:pPr algn="ctr" indent="0" marL="0">
              <a:buNone/>
            </a:pPr>
            <a:r>
              <a:rPr lang="en-US" sz="1000" dirty="0">
                <a:solidFill>
                  <a:srgbClr val="2A2A2A"/>
                </a:solidFill>
                <a:latin typeface="Calibri" pitchFamily="34" charset="0"/>
                <a:ea typeface="Calibri" pitchFamily="34" charset="-122"/>
                <a:cs typeface="Calibri" pitchFamily="34" charset="-120"/>
              </a:rPr>
              <a:t>B.B / J.P</a:t>
            </a:r>
            <a:endParaRPr lang="en-US" sz="1000" dirty="0"/>
          </a:p>
        </p:txBody>
      </p:sp>
      <p:sp>
        <p:nvSpPr>
          <p:cNvPr id="22" name="Shape 20"/>
          <p:cNvSpPr/>
          <p:nvPr/>
        </p:nvSpPr>
        <p:spPr>
          <a:xfrm>
            <a:off x="365760" y="2951226"/>
            <a:ext cx="11460175" cy="1149858"/>
          </a:xfrm>
          <a:prstGeom prst="rect">
            <a:avLst/>
          </a:prstGeom>
          <a:solidFill>
            <a:srgbClr val="F3F6F8"/>
          </a:solidFill>
          <a:ln w="9525">
            <a:solidFill>
              <a:srgbClr val="E3E7EC"/>
            </a:solidFill>
            <a:prstDash val="solid"/>
          </a:ln>
        </p:spPr>
      </p:sp>
      <p:sp>
        <p:nvSpPr>
          <p:cNvPr id="23" name="Text 21"/>
          <p:cNvSpPr txBox="1"/>
          <p:nvPr/>
        </p:nvSpPr>
        <p:spPr>
          <a:xfrm>
            <a:off x="457200" y="2951226"/>
            <a:ext cx="1280160" cy="1149858"/>
          </a:xfrm>
          <a:prstGeom prst="rect">
            <a:avLst/>
          </a:prstGeom>
          <a:noFill/>
          <a:ln/>
        </p:spPr>
        <p:txBody>
          <a:bodyPr wrap="square" lIns="0" tIns="0" rIns="0" bIns="0" rtlCol="0" anchor="ctr"/>
          <a:lstStyle/>
          <a:p>
            <a:pPr algn="l" indent="0" marL="0">
              <a:buNone/>
            </a:pPr>
            <a:r>
              <a:rPr lang="en-US" sz="1150" b="1" dirty="0">
                <a:solidFill>
                  <a:srgbClr val="2A2A2A"/>
                </a:solidFill>
                <a:latin typeface="Calibri" pitchFamily="34" charset="0"/>
                <a:ea typeface="Calibri" pitchFamily="34" charset="-122"/>
                <a:cs typeface="Calibri" pitchFamily="34" charset="-120"/>
              </a:rPr>
              <a:t>QS 2026</a:t>
            </a:r>
            <a:endParaRPr lang="en-US" sz="1150" dirty="0"/>
          </a:p>
          <a:p>
            <a:pPr algn="l" indent="0" marL="0">
              <a:buNone/>
            </a:pPr>
            <a:r>
              <a:rPr lang="en-US" sz="1150" b="1" dirty="0">
                <a:solidFill>
                  <a:srgbClr val="2A2A2A"/>
                </a:solidFill>
                <a:latin typeface="Calibri" pitchFamily="34" charset="0"/>
                <a:ea typeface="Calibri" pitchFamily="34" charset="-122"/>
                <a:cs typeface="Calibri" pitchFamily="34" charset="-120"/>
              </a:rPr>
              <a:t>(Requêtes CPN2 RCC)</a:t>
            </a:r>
            <a:endParaRPr lang="en-US" sz="1150" dirty="0"/>
          </a:p>
        </p:txBody>
      </p:sp>
      <p:sp>
        <p:nvSpPr>
          <p:cNvPr id="24" name="Shape 22"/>
          <p:cNvSpPr/>
          <p:nvPr/>
        </p:nvSpPr>
        <p:spPr>
          <a:xfrm>
            <a:off x="1897380" y="3233547"/>
            <a:ext cx="868680" cy="256032"/>
          </a:xfrm>
          <a:prstGeom prst="roundRect">
            <a:avLst>
              <a:gd name="adj" fmla="val 28571"/>
            </a:avLst>
          </a:prstGeom>
          <a:solidFill>
            <a:srgbClr val="8C97A8"/>
          </a:solidFill>
          <a:ln/>
        </p:spPr>
      </p:sp>
      <p:sp>
        <p:nvSpPr>
          <p:cNvPr id="25" name="Text 23"/>
          <p:cNvSpPr txBox="1"/>
          <p:nvPr/>
        </p:nvSpPr>
        <p:spPr>
          <a:xfrm>
            <a:off x="1874520" y="3233547"/>
            <a:ext cx="91440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NON COMMENCÉ</a:t>
            </a:r>
            <a:endParaRPr lang="en-US" sz="800" dirty="0"/>
          </a:p>
        </p:txBody>
      </p:sp>
      <p:sp>
        <p:nvSpPr>
          <p:cNvPr id="26" name="Text 24"/>
          <p:cNvSpPr txBox="1"/>
          <p:nvPr/>
        </p:nvSpPr>
        <p:spPr>
          <a:xfrm>
            <a:off x="1874520" y="3581019"/>
            <a:ext cx="914400" cy="274320"/>
          </a:xfrm>
          <a:prstGeom prst="rect">
            <a:avLst/>
          </a:prstGeom>
          <a:noFill/>
          <a:ln/>
        </p:spPr>
        <p:txBody>
          <a:bodyPr wrap="square" lIns="0" tIns="0" rIns="0" bIns="0" rtlCol="0" anchor="ctr"/>
          <a:lstStyle/>
          <a:p>
            <a:pPr algn="ctr" indent="0" marL="0">
              <a:buNone/>
            </a:pPr>
            <a:r>
              <a:rPr lang="en-US" sz="1300" b="1" dirty="0">
                <a:solidFill>
                  <a:srgbClr val="2E7D32"/>
                </a:solidFill>
                <a:latin typeface="Calibri" pitchFamily="34" charset="0"/>
                <a:ea typeface="Calibri" pitchFamily="34" charset="-122"/>
                <a:cs typeface="Calibri" pitchFamily="34" charset="-120"/>
              </a:rPr>
              <a:t>0%</a:t>
            </a:r>
            <a:endParaRPr lang="en-US" sz="1300" dirty="0"/>
          </a:p>
        </p:txBody>
      </p:sp>
      <p:sp>
        <p:nvSpPr>
          <p:cNvPr id="27" name="Text 25"/>
          <p:cNvSpPr txBox="1"/>
          <p:nvPr/>
        </p:nvSpPr>
        <p:spPr>
          <a:xfrm>
            <a:off x="2880360" y="3006090"/>
            <a:ext cx="3108960" cy="1040130"/>
          </a:xfrm>
          <a:prstGeom prst="rect">
            <a:avLst/>
          </a:prstGeom>
          <a:noFill/>
          <a:ln/>
        </p:spPr>
        <p:txBody>
          <a:bodyPr wrap="square" lIns="0" tIns="0" rIns="0" bIns="0" rtlCol="0" anchor="ctr"/>
          <a:lstStyle/>
          <a:p>
            <a:pPr algn="l" indent="0" marL="0">
              <a:lnSpc>
                <a:spcPct val="105000"/>
              </a:lnSpc>
              <a:buNone/>
            </a:pPr>
            <a:r>
              <a:rPr lang="en-US" sz="900" i="1" dirty="0">
                <a:solidFill>
                  <a:srgbClr val="6B7280"/>
                </a:solidFill>
                <a:latin typeface="Calibri" pitchFamily="34" charset="0"/>
                <a:ea typeface="Calibri" pitchFamily="34" charset="-122"/>
                <a:cs typeface="Calibri" pitchFamily="34" charset="-120"/>
              </a:rPr>
              <a:t>Automatisation garanties / Crédits Immo. Développement Alteryx / outils workflow 2.2. Collecte et historisations des pièces justificatives. Consolidation des résultats 2.1 et 2.2.</a:t>
            </a:r>
            <a:endParaRPr lang="en-US" sz="900" dirty="0"/>
          </a:p>
        </p:txBody>
      </p:sp>
      <p:sp>
        <p:nvSpPr>
          <p:cNvPr id="28" name="Text 26"/>
          <p:cNvSpPr txBox="1"/>
          <p:nvPr/>
        </p:nvSpPr>
        <p:spPr>
          <a:xfrm>
            <a:off x="6217920" y="3006090"/>
            <a:ext cx="2148840" cy="1040130"/>
          </a:xfrm>
          <a:prstGeom prst="rect">
            <a:avLst/>
          </a:prstGeom>
          <a:noFill/>
          <a:ln/>
        </p:spPr>
        <p:txBody>
          <a:bodyPr wrap="square" lIns="0" tIns="0" rIns="0" bIns="0" rtlCol="0" anchor="ctr"/>
          <a:lstStyle/>
          <a:p>
            <a:pPr algn="l" marL="342900" indent="-342900">
              <a:lnSpc>
                <a:spcPct val="105000"/>
              </a:lnSpc>
              <a:spcAft>
                <a:spcPts val="400"/>
              </a:spcAft>
              <a:buSzPct val="100000"/>
              <a:buChar char="•"/>
            </a:pPr>
            <a:r>
              <a:rPr lang="en-US" sz="950" dirty="0">
                <a:solidFill>
                  <a:srgbClr val="2A2A2A"/>
                </a:solidFill>
                <a:latin typeface="Calibri" pitchFamily="34" charset="0"/>
                <a:ea typeface="Calibri" pitchFamily="34" charset="-122"/>
                <a:cs typeface="Calibri" pitchFamily="34" charset="-120"/>
              </a:rPr>
              <a:t>Automatisation garanties / Crédits Immo (Alteryx, workflow 2.2)</a:t>
            </a:r>
            <a:endParaRPr lang="en-US" sz="950" dirty="0"/>
          </a:p>
          <a:p>
            <a:pPr algn="l" marL="342900" indent="-342900">
              <a:lnSpc>
                <a:spcPct val="105000"/>
              </a:lnSpc>
              <a:spcAft>
                <a:spcPts val="400"/>
              </a:spcAft>
              <a:buSzPct val="100000"/>
              <a:buChar char="•"/>
            </a:pPr>
            <a:r>
              <a:rPr lang="en-US" sz="950" dirty="0">
                <a:solidFill>
                  <a:srgbClr val="2A2A2A"/>
                </a:solidFill>
                <a:latin typeface="Calibri" pitchFamily="34" charset="0"/>
                <a:ea typeface="Calibri" pitchFamily="34" charset="-122"/>
                <a:cs typeface="Calibri" pitchFamily="34" charset="-120"/>
              </a:rPr>
              <a:t>Collecte, historisation et consolidation des résultats 2.1 / 2.2</a:t>
            </a:r>
            <a:endParaRPr lang="en-US" sz="950" dirty="0"/>
          </a:p>
        </p:txBody>
      </p:sp>
      <p:sp>
        <p:nvSpPr>
          <p:cNvPr id="29" name="Text 27"/>
          <p:cNvSpPr txBox="1"/>
          <p:nvPr/>
        </p:nvSpPr>
        <p:spPr>
          <a:xfrm>
            <a:off x="8595360" y="2951226"/>
            <a:ext cx="1097280" cy="1149858"/>
          </a:xfrm>
          <a:prstGeom prst="rect">
            <a:avLst/>
          </a:prstGeom>
          <a:noFill/>
          <a:ln/>
        </p:spPr>
        <p:txBody>
          <a:bodyPr wrap="square" lIns="0" tIns="0" rIns="0" bIns="0" rtlCol="0" anchor="ctr"/>
          <a:lstStyle/>
          <a:p>
            <a:pPr algn="ctr" indent="0" marL="0">
              <a:buNone/>
            </a:pPr>
            <a:r>
              <a:rPr lang="en-US" sz="950" dirty="0">
                <a:solidFill>
                  <a:srgbClr val="2A2A2A"/>
                </a:solidFill>
                <a:latin typeface="Calibri" pitchFamily="34" charset="0"/>
                <a:ea typeface="Calibri" pitchFamily="34" charset="-122"/>
                <a:cs typeface="Calibri" pitchFamily="34" charset="-120"/>
              </a:rPr>
              <a:t>À définir</a:t>
            </a:r>
            <a:endParaRPr lang="en-US" sz="950" dirty="0"/>
          </a:p>
        </p:txBody>
      </p:sp>
      <p:sp>
        <p:nvSpPr>
          <p:cNvPr id="30" name="Text 28"/>
          <p:cNvSpPr txBox="1"/>
          <p:nvPr/>
        </p:nvSpPr>
        <p:spPr>
          <a:xfrm>
            <a:off x="9875520" y="2951226"/>
            <a:ext cx="1828800" cy="1149858"/>
          </a:xfrm>
          <a:prstGeom prst="rect">
            <a:avLst/>
          </a:prstGeom>
          <a:noFill/>
          <a:ln/>
        </p:spPr>
        <p:txBody>
          <a:bodyPr wrap="square" lIns="0" tIns="0" rIns="0" bIns="0" rtlCol="0" anchor="ctr"/>
          <a:lstStyle/>
          <a:p>
            <a:pPr algn="ctr" indent="0" marL="0">
              <a:buNone/>
            </a:pPr>
            <a:r>
              <a:rPr lang="en-US" sz="1000" dirty="0">
                <a:solidFill>
                  <a:srgbClr val="2A2A2A"/>
                </a:solidFill>
                <a:latin typeface="Calibri" pitchFamily="34" charset="0"/>
                <a:ea typeface="Calibri" pitchFamily="34" charset="-122"/>
                <a:cs typeface="Calibri" pitchFamily="34" charset="-120"/>
              </a:rPr>
              <a:t>P.J / B.P.M</a:t>
            </a:r>
            <a:endParaRPr lang="en-US" sz="1000" dirty="0"/>
          </a:p>
        </p:txBody>
      </p:sp>
      <p:sp>
        <p:nvSpPr>
          <p:cNvPr id="31" name="Shape 29"/>
          <p:cNvSpPr/>
          <p:nvPr/>
        </p:nvSpPr>
        <p:spPr>
          <a:xfrm>
            <a:off x="365760" y="4101084"/>
            <a:ext cx="11460175" cy="1149858"/>
          </a:xfrm>
          <a:prstGeom prst="rect">
            <a:avLst/>
          </a:prstGeom>
          <a:solidFill>
            <a:srgbClr val="FFFFFF"/>
          </a:solidFill>
          <a:ln w="9525">
            <a:solidFill>
              <a:srgbClr val="E3E7EC"/>
            </a:solidFill>
            <a:prstDash val="solid"/>
          </a:ln>
        </p:spPr>
      </p:sp>
      <p:sp>
        <p:nvSpPr>
          <p:cNvPr id="32" name="Text 30"/>
          <p:cNvSpPr txBox="1"/>
          <p:nvPr/>
        </p:nvSpPr>
        <p:spPr>
          <a:xfrm>
            <a:off x="457200" y="4101084"/>
            <a:ext cx="1280160" cy="1149858"/>
          </a:xfrm>
          <a:prstGeom prst="rect">
            <a:avLst/>
          </a:prstGeom>
          <a:noFill/>
          <a:ln/>
        </p:spPr>
        <p:txBody>
          <a:bodyPr wrap="square" lIns="0" tIns="0" rIns="0" bIns="0" rtlCol="0" anchor="ctr"/>
          <a:lstStyle/>
          <a:p>
            <a:pPr algn="l" indent="0" marL="0">
              <a:buNone/>
            </a:pPr>
            <a:r>
              <a:rPr lang="en-US" sz="1150" b="1" dirty="0">
                <a:solidFill>
                  <a:srgbClr val="2A2A2A"/>
                </a:solidFill>
                <a:latin typeface="Calibri" pitchFamily="34" charset="0"/>
                <a:ea typeface="Calibri" pitchFamily="34" charset="-122"/>
                <a:cs typeface="Calibri" pitchFamily="34" charset="-120"/>
              </a:rPr>
              <a:t>RISKFLOW</a:t>
            </a:r>
            <a:endParaRPr lang="en-US" sz="1150" dirty="0"/>
          </a:p>
        </p:txBody>
      </p:sp>
      <p:sp>
        <p:nvSpPr>
          <p:cNvPr id="33" name="Shape 31"/>
          <p:cNvSpPr/>
          <p:nvPr/>
        </p:nvSpPr>
        <p:spPr>
          <a:xfrm>
            <a:off x="1897380" y="4383405"/>
            <a:ext cx="868680" cy="256032"/>
          </a:xfrm>
          <a:prstGeom prst="roundRect">
            <a:avLst>
              <a:gd name="adj" fmla="val 28571"/>
            </a:avLst>
          </a:prstGeom>
          <a:solidFill>
            <a:srgbClr val="D97D4A"/>
          </a:solidFill>
          <a:ln/>
        </p:spPr>
      </p:sp>
      <p:sp>
        <p:nvSpPr>
          <p:cNvPr id="34" name="Text 32"/>
          <p:cNvSpPr txBox="1"/>
          <p:nvPr/>
        </p:nvSpPr>
        <p:spPr>
          <a:xfrm>
            <a:off x="1874520" y="4383405"/>
            <a:ext cx="91440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EN COURS</a:t>
            </a:r>
            <a:endParaRPr lang="en-US" sz="800" dirty="0"/>
          </a:p>
        </p:txBody>
      </p:sp>
      <p:sp>
        <p:nvSpPr>
          <p:cNvPr id="35" name="Text 33"/>
          <p:cNvSpPr txBox="1"/>
          <p:nvPr/>
        </p:nvSpPr>
        <p:spPr>
          <a:xfrm>
            <a:off x="1874520" y="4730877"/>
            <a:ext cx="914400" cy="274320"/>
          </a:xfrm>
          <a:prstGeom prst="rect">
            <a:avLst/>
          </a:prstGeom>
          <a:noFill/>
          <a:ln/>
        </p:spPr>
        <p:txBody>
          <a:bodyPr wrap="square" lIns="0" tIns="0" rIns="0" bIns="0" rtlCol="0" anchor="ctr"/>
          <a:lstStyle/>
          <a:p>
            <a:pPr algn="ctr" indent="0" marL="0">
              <a:buNone/>
            </a:pPr>
            <a:r>
              <a:rPr lang="en-US" sz="1300" b="1" dirty="0">
                <a:solidFill>
                  <a:srgbClr val="2E7D32"/>
                </a:solidFill>
                <a:latin typeface="Calibri" pitchFamily="34" charset="0"/>
                <a:ea typeface="Calibri" pitchFamily="34" charset="-122"/>
                <a:cs typeface="Calibri" pitchFamily="34" charset="-120"/>
              </a:rPr>
              <a:t>10%</a:t>
            </a:r>
            <a:endParaRPr lang="en-US" sz="1300" dirty="0"/>
          </a:p>
        </p:txBody>
      </p:sp>
      <p:sp>
        <p:nvSpPr>
          <p:cNvPr id="36" name="Text 34"/>
          <p:cNvSpPr txBox="1"/>
          <p:nvPr/>
        </p:nvSpPr>
        <p:spPr>
          <a:xfrm>
            <a:off x="2880360" y="4155948"/>
            <a:ext cx="3108960" cy="1040130"/>
          </a:xfrm>
          <a:prstGeom prst="rect">
            <a:avLst/>
          </a:prstGeom>
          <a:noFill/>
          <a:ln/>
        </p:spPr>
        <p:txBody>
          <a:bodyPr wrap="square" lIns="0" tIns="0" rIns="0" bIns="0" rtlCol="0" anchor="ctr"/>
          <a:lstStyle/>
          <a:p>
            <a:pPr algn="l" indent="0" marL="0">
              <a:lnSpc>
                <a:spcPct val="105000"/>
              </a:lnSpc>
              <a:buNone/>
            </a:pPr>
            <a:r>
              <a:rPr lang="en-US" sz="900" i="1" dirty="0">
                <a:solidFill>
                  <a:srgbClr val="6B7280"/>
                </a:solidFill>
                <a:latin typeface="Calibri" pitchFamily="34" charset="0"/>
                <a:ea typeface="Calibri" pitchFamily="34" charset="-122"/>
                <a:cs typeface="Calibri" pitchFamily="34" charset="-120"/>
              </a:rPr>
              <a:t>Intégration dans le workflow 2.2. Échanges et publication des résultats définitifs.</a:t>
            </a:r>
            <a:endParaRPr lang="en-US" sz="900" dirty="0"/>
          </a:p>
        </p:txBody>
      </p:sp>
      <p:sp>
        <p:nvSpPr>
          <p:cNvPr id="37" name="Text 35"/>
          <p:cNvSpPr txBox="1"/>
          <p:nvPr/>
        </p:nvSpPr>
        <p:spPr>
          <a:xfrm>
            <a:off x="6217920" y="4155948"/>
            <a:ext cx="2148840" cy="1040130"/>
          </a:xfrm>
          <a:prstGeom prst="rect">
            <a:avLst/>
          </a:prstGeom>
          <a:noFill/>
          <a:ln/>
        </p:spPr>
        <p:txBody>
          <a:bodyPr wrap="square" lIns="0" tIns="0" rIns="0" bIns="0" rtlCol="0" anchor="ctr"/>
          <a:lstStyle/>
          <a:p>
            <a:pPr algn="l" marL="342900" indent="-342900">
              <a:lnSpc>
                <a:spcPct val="105000"/>
              </a:lnSpc>
              <a:spcAft>
                <a:spcPts val="400"/>
              </a:spcAft>
              <a:buSzPct val="100000"/>
              <a:buChar char="•"/>
            </a:pPr>
            <a:r>
              <a:rPr lang="en-US" sz="950" dirty="0">
                <a:solidFill>
                  <a:srgbClr val="2A2A2A"/>
                </a:solidFill>
                <a:latin typeface="Calibri" pitchFamily="34" charset="0"/>
                <a:ea typeface="Calibri" pitchFamily="34" charset="-122"/>
                <a:cs typeface="Calibri" pitchFamily="34" charset="-120"/>
              </a:rPr>
              <a:t>Intégration dans le workflow 2.2</a:t>
            </a:r>
            <a:endParaRPr lang="en-US" sz="950" dirty="0"/>
          </a:p>
          <a:p>
            <a:pPr algn="l" marL="342900" indent="-342900">
              <a:lnSpc>
                <a:spcPct val="105000"/>
              </a:lnSpc>
              <a:spcAft>
                <a:spcPts val="400"/>
              </a:spcAft>
              <a:buSzPct val="100000"/>
              <a:buChar char="•"/>
            </a:pPr>
            <a:r>
              <a:rPr lang="en-US" sz="950" dirty="0">
                <a:solidFill>
                  <a:srgbClr val="2A2A2A"/>
                </a:solidFill>
                <a:latin typeface="Calibri" pitchFamily="34" charset="0"/>
                <a:ea typeface="Calibri" pitchFamily="34" charset="-122"/>
                <a:cs typeface="Calibri" pitchFamily="34" charset="-120"/>
              </a:rPr>
              <a:t>Échanges et publication des résultats définitifs</a:t>
            </a:r>
            <a:endParaRPr lang="en-US" sz="950" dirty="0"/>
          </a:p>
        </p:txBody>
      </p:sp>
      <p:sp>
        <p:nvSpPr>
          <p:cNvPr id="38" name="Text 36"/>
          <p:cNvSpPr txBox="1"/>
          <p:nvPr/>
        </p:nvSpPr>
        <p:spPr>
          <a:xfrm>
            <a:off x="8595360" y="4101084"/>
            <a:ext cx="1097280" cy="1149858"/>
          </a:xfrm>
          <a:prstGeom prst="rect">
            <a:avLst/>
          </a:prstGeom>
          <a:noFill/>
          <a:ln/>
        </p:spPr>
        <p:txBody>
          <a:bodyPr wrap="square" lIns="0" tIns="0" rIns="0" bIns="0" rtlCol="0" anchor="ctr"/>
          <a:lstStyle/>
          <a:p>
            <a:pPr algn="ctr" indent="0" marL="0">
              <a:buNone/>
            </a:pPr>
            <a:r>
              <a:rPr lang="en-US" sz="950" dirty="0">
                <a:solidFill>
                  <a:srgbClr val="2A2A2A"/>
                </a:solidFill>
                <a:latin typeface="Calibri" pitchFamily="34" charset="0"/>
                <a:ea typeface="Calibri" pitchFamily="34" charset="-122"/>
                <a:cs typeface="Calibri" pitchFamily="34" charset="-120"/>
              </a:rPr>
              <a:t>LOT1 : 31/07/2026</a:t>
            </a:r>
            <a:endParaRPr lang="en-US" sz="950" dirty="0"/>
          </a:p>
          <a:p>
            <a:pPr algn="ctr" indent="0" marL="0">
              <a:buNone/>
            </a:pPr>
            <a:r>
              <a:rPr lang="en-US" sz="950" dirty="0">
                <a:solidFill>
                  <a:srgbClr val="2A2A2A"/>
                </a:solidFill>
                <a:latin typeface="Calibri" pitchFamily="34" charset="0"/>
                <a:ea typeface="Calibri" pitchFamily="34" charset="-122"/>
                <a:cs typeface="Calibri" pitchFamily="34" charset="-120"/>
              </a:rPr>
              <a:t>LOT2 : 15/09/2026</a:t>
            </a:r>
            <a:endParaRPr lang="en-US" sz="950" dirty="0"/>
          </a:p>
        </p:txBody>
      </p:sp>
      <p:sp>
        <p:nvSpPr>
          <p:cNvPr id="39" name="Text 37"/>
          <p:cNvSpPr txBox="1"/>
          <p:nvPr/>
        </p:nvSpPr>
        <p:spPr>
          <a:xfrm>
            <a:off x="9875520" y="4101084"/>
            <a:ext cx="1828800" cy="1149858"/>
          </a:xfrm>
          <a:prstGeom prst="rect">
            <a:avLst/>
          </a:prstGeom>
          <a:noFill/>
          <a:ln/>
        </p:spPr>
        <p:txBody>
          <a:bodyPr wrap="square" lIns="0" tIns="0" rIns="0" bIns="0" rtlCol="0" anchor="ctr"/>
          <a:lstStyle/>
          <a:p>
            <a:pPr algn="ctr" indent="0" marL="0">
              <a:buNone/>
            </a:pPr>
            <a:r>
              <a:rPr lang="en-US" sz="1000" dirty="0">
                <a:solidFill>
                  <a:srgbClr val="2A2A2A"/>
                </a:solidFill>
                <a:latin typeface="Calibri" pitchFamily="34" charset="0"/>
                <a:ea typeface="Calibri" pitchFamily="34" charset="-122"/>
                <a:cs typeface="Calibri" pitchFamily="34" charset="-120"/>
              </a:rPr>
              <a:t>B.A.T / A.O / B.B</a:t>
            </a:r>
            <a:endParaRPr lang="en-US" sz="1000" dirty="0"/>
          </a:p>
        </p:txBody>
      </p:sp>
      <p:sp>
        <p:nvSpPr>
          <p:cNvPr id="40" name="Shape 38"/>
          <p:cNvSpPr/>
          <p:nvPr/>
        </p:nvSpPr>
        <p:spPr>
          <a:xfrm>
            <a:off x="365760" y="5250942"/>
            <a:ext cx="11460175" cy="1149858"/>
          </a:xfrm>
          <a:prstGeom prst="rect">
            <a:avLst/>
          </a:prstGeom>
          <a:solidFill>
            <a:srgbClr val="F3F6F8"/>
          </a:solidFill>
          <a:ln w="9525">
            <a:solidFill>
              <a:srgbClr val="E3E7EC"/>
            </a:solidFill>
            <a:prstDash val="solid"/>
          </a:ln>
        </p:spPr>
      </p:sp>
      <p:sp>
        <p:nvSpPr>
          <p:cNvPr id="41" name="Text 39"/>
          <p:cNvSpPr txBox="1"/>
          <p:nvPr/>
        </p:nvSpPr>
        <p:spPr>
          <a:xfrm>
            <a:off x="457200" y="5250942"/>
            <a:ext cx="1280160" cy="1149858"/>
          </a:xfrm>
          <a:prstGeom prst="rect">
            <a:avLst/>
          </a:prstGeom>
          <a:noFill/>
          <a:ln/>
        </p:spPr>
        <p:txBody>
          <a:bodyPr wrap="square" lIns="0" tIns="0" rIns="0" bIns="0" rtlCol="0" anchor="ctr"/>
          <a:lstStyle/>
          <a:p>
            <a:pPr algn="l" indent="0" marL="0">
              <a:buNone/>
            </a:pPr>
            <a:r>
              <a:rPr lang="en-US" sz="1150" b="1" dirty="0">
                <a:solidFill>
                  <a:srgbClr val="2A2A2A"/>
                </a:solidFill>
                <a:latin typeface="Calibri" pitchFamily="34" charset="0"/>
                <a:ea typeface="Calibri" pitchFamily="34" charset="-122"/>
                <a:cs typeface="Calibri" pitchFamily="34" charset="-120"/>
              </a:rPr>
              <a:t>Développement complémentaire</a:t>
            </a:r>
            <a:endParaRPr lang="en-US" sz="1150" dirty="0"/>
          </a:p>
          <a:p>
            <a:pPr algn="l" indent="0" marL="0">
              <a:buNone/>
            </a:pPr>
            <a:r>
              <a:rPr lang="en-US" sz="1150" b="1" dirty="0">
                <a:solidFill>
                  <a:srgbClr val="2A2A2A"/>
                </a:solidFill>
                <a:latin typeface="Calibri" pitchFamily="34" charset="0"/>
                <a:ea typeface="Calibri" pitchFamily="34" charset="-122"/>
                <a:cs typeface="Calibri" pitchFamily="34" charset="-120"/>
              </a:rPr>
              <a:t>outils workflow 2.2</a:t>
            </a:r>
            <a:endParaRPr lang="en-US" sz="1150" dirty="0"/>
          </a:p>
        </p:txBody>
      </p:sp>
      <p:sp>
        <p:nvSpPr>
          <p:cNvPr id="42" name="Shape 40"/>
          <p:cNvSpPr/>
          <p:nvPr/>
        </p:nvSpPr>
        <p:spPr>
          <a:xfrm>
            <a:off x="1897380" y="5533263"/>
            <a:ext cx="868680" cy="256032"/>
          </a:xfrm>
          <a:prstGeom prst="roundRect">
            <a:avLst>
              <a:gd name="adj" fmla="val 28571"/>
            </a:avLst>
          </a:prstGeom>
          <a:solidFill>
            <a:srgbClr val="D97D4A"/>
          </a:solidFill>
          <a:ln/>
        </p:spPr>
      </p:sp>
      <p:sp>
        <p:nvSpPr>
          <p:cNvPr id="43" name="Text 41"/>
          <p:cNvSpPr txBox="1"/>
          <p:nvPr/>
        </p:nvSpPr>
        <p:spPr>
          <a:xfrm>
            <a:off x="1874520" y="5533263"/>
            <a:ext cx="91440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EN COURS</a:t>
            </a:r>
            <a:endParaRPr lang="en-US" sz="800" dirty="0"/>
          </a:p>
        </p:txBody>
      </p:sp>
      <p:sp>
        <p:nvSpPr>
          <p:cNvPr id="44" name="Text 42"/>
          <p:cNvSpPr txBox="1"/>
          <p:nvPr/>
        </p:nvSpPr>
        <p:spPr>
          <a:xfrm>
            <a:off x="1874520" y="5880735"/>
            <a:ext cx="914400" cy="274320"/>
          </a:xfrm>
          <a:prstGeom prst="rect">
            <a:avLst/>
          </a:prstGeom>
          <a:noFill/>
          <a:ln/>
        </p:spPr>
        <p:txBody>
          <a:bodyPr wrap="square" lIns="0" tIns="0" rIns="0" bIns="0" rtlCol="0" anchor="ctr"/>
          <a:lstStyle/>
          <a:p>
            <a:pPr algn="ctr" indent="0" marL="0">
              <a:buNone/>
            </a:pPr>
            <a:r>
              <a:rPr lang="en-US" sz="1300" b="1" dirty="0">
                <a:solidFill>
                  <a:srgbClr val="2E7D32"/>
                </a:solidFill>
                <a:latin typeface="Calibri" pitchFamily="34" charset="0"/>
                <a:ea typeface="Calibri" pitchFamily="34" charset="-122"/>
                <a:cs typeface="Calibri" pitchFamily="34" charset="-120"/>
              </a:rPr>
              <a:t>60%</a:t>
            </a:r>
            <a:endParaRPr lang="en-US" sz="1300" dirty="0"/>
          </a:p>
        </p:txBody>
      </p:sp>
      <p:sp>
        <p:nvSpPr>
          <p:cNvPr id="45" name="Text 43"/>
          <p:cNvSpPr txBox="1"/>
          <p:nvPr/>
        </p:nvSpPr>
        <p:spPr>
          <a:xfrm>
            <a:off x="2880360" y="5305806"/>
            <a:ext cx="3108960" cy="1040130"/>
          </a:xfrm>
          <a:prstGeom prst="rect">
            <a:avLst/>
          </a:prstGeom>
          <a:noFill/>
          <a:ln/>
        </p:spPr>
        <p:txBody>
          <a:bodyPr wrap="square" lIns="0" tIns="0" rIns="0" bIns="0" rtlCol="0" anchor="ctr"/>
          <a:lstStyle/>
          <a:p>
            <a:pPr algn="l" indent="0" marL="0">
              <a:lnSpc>
                <a:spcPct val="105000"/>
              </a:lnSpc>
              <a:buNone/>
            </a:pPr>
            <a:r>
              <a:rPr lang="en-US" sz="900" i="1" dirty="0">
                <a:solidFill>
                  <a:srgbClr val="6B7280"/>
                </a:solidFill>
                <a:latin typeface="Calibri" pitchFamily="34" charset="0"/>
                <a:ea typeface="Calibri" pitchFamily="34" charset="-122"/>
                <a:cs typeface="Calibri" pitchFamily="34" charset="-120"/>
              </a:rPr>
              <a:t>Automatisation des campagnes et des relances pour les contributeurs et valideurs sur les rapports réglementaires (RACI URD). Intégration automatisée des résultats 2.2, extension aux autres segments risques et contrôles des politiques, contrôle automatisé.</a:t>
            </a:r>
            <a:endParaRPr lang="en-US" sz="900" dirty="0"/>
          </a:p>
        </p:txBody>
      </p:sp>
      <p:sp>
        <p:nvSpPr>
          <p:cNvPr id="46" name="Text 44"/>
          <p:cNvSpPr txBox="1"/>
          <p:nvPr/>
        </p:nvSpPr>
        <p:spPr>
          <a:xfrm>
            <a:off x="6217920" y="5305806"/>
            <a:ext cx="2148840" cy="1040130"/>
          </a:xfrm>
          <a:prstGeom prst="rect">
            <a:avLst/>
          </a:prstGeom>
          <a:noFill/>
          <a:ln/>
        </p:spPr>
        <p:txBody>
          <a:bodyPr wrap="square" lIns="0" tIns="0" rIns="0" bIns="0" rtlCol="0" anchor="ctr"/>
          <a:lstStyle/>
          <a:p>
            <a:pPr algn="l" marL="342900" indent="-342900">
              <a:lnSpc>
                <a:spcPct val="105000"/>
              </a:lnSpc>
              <a:spcAft>
                <a:spcPts val="400"/>
              </a:spcAft>
              <a:buSzPct val="100000"/>
              <a:buChar char="•"/>
            </a:pPr>
            <a:r>
              <a:rPr lang="en-US" sz="950" dirty="0">
                <a:solidFill>
                  <a:srgbClr val="2A2A2A"/>
                </a:solidFill>
                <a:latin typeface="Calibri" pitchFamily="34" charset="0"/>
                <a:ea typeface="Calibri" pitchFamily="34" charset="-122"/>
                <a:cs typeface="Calibri" pitchFamily="34" charset="-120"/>
              </a:rPr>
              <a:t>Automatiser campagnes et relances (contributeurs, valideurs, RACI URD)</a:t>
            </a:r>
            <a:endParaRPr lang="en-US" sz="950" dirty="0"/>
          </a:p>
          <a:p>
            <a:pPr algn="l" marL="342900" indent="-342900">
              <a:lnSpc>
                <a:spcPct val="105000"/>
              </a:lnSpc>
              <a:spcAft>
                <a:spcPts val="400"/>
              </a:spcAft>
              <a:buSzPct val="100000"/>
              <a:buChar char="•"/>
            </a:pPr>
            <a:r>
              <a:rPr lang="en-US" sz="950" dirty="0">
                <a:solidFill>
                  <a:srgbClr val="2A2A2A"/>
                </a:solidFill>
                <a:latin typeface="Calibri" pitchFamily="34" charset="0"/>
                <a:ea typeface="Calibri" pitchFamily="34" charset="-122"/>
                <a:cs typeface="Calibri" pitchFamily="34" charset="-120"/>
              </a:rPr>
              <a:t>Étendre l'intégration 2.2 aux autres segments risques et contrôles</a:t>
            </a:r>
            <a:endParaRPr lang="en-US" sz="950" dirty="0"/>
          </a:p>
        </p:txBody>
      </p:sp>
      <p:sp>
        <p:nvSpPr>
          <p:cNvPr id="47" name="Text 45"/>
          <p:cNvSpPr txBox="1"/>
          <p:nvPr/>
        </p:nvSpPr>
        <p:spPr>
          <a:xfrm>
            <a:off x="8595360" y="5250942"/>
            <a:ext cx="1097280" cy="1149858"/>
          </a:xfrm>
          <a:prstGeom prst="rect">
            <a:avLst/>
          </a:prstGeom>
          <a:noFill/>
          <a:ln/>
        </p:spPr>
        <p:txBody>
          <a:bodyPr wrap="square" lIns="0" tIns="0" rIns="0" bIns="0" rtlCol="0" anchor="ctr"/>
          <a:lstStyle/>
          <a:p>
            <a:pPr algn="ctr" indent="0" marL="0">
              <a:buNone/>
            </a:pPr>
            <a:r>
              <a:rPr lang="en-US" sz="950" dirty="0">
                <a:solidFill>
                  <a:srgbClr val="2A2A2A"/>
                </a:solidFill>
                <a:latin typeface="Calibri" pitchFamily="34" charset="0"/>
                <a:ea typeface="Calibri" pitchFamily="34" charset="-122"/>
                <a:cs typeface="Calibri" pitchFamily="34" charset="-120"/>
              </a:rPr>
              <a:t>30/11/2026</a:t>
            </a:r>
            <a:endParaRPr lang="en-US" sz="950" dirty="0"/>
          </a:p>
        </p:txBody>
      </p:sp>
      <p:sp>
        <p:nvSpPr>
          <p:cNvPr id="48" name="Text 46"/>
          <p:cNvSpPr txBox="1"/>
          <p:nvPr/>
        </p:nvSpPr>
        <p:spPr>
          <a:xfrm>
            <a:off x="9875520" y="5250942"/>
            <a:ext cx="1828800" cy="1149858"/>
          </a:xfrm>
          <a:prstGeom prst="rect">
            <a:avLst/>
          </a:prstGeom>
          <a:noFill/>
          <a:ln/>
        </p:spPr>
        <p:txBody>
          <a:bodyPr wrap="square" lIns="0" tIns="0" rIns="0" bIns="0" rtlCol="0" anchor="ctr"/>
          <a:lstStyle/>
          <a:p>
            <a:pPr algn="ctr" indent="0" marL="0">
              <a:buNone/>
            </a:pPr>
            <a:r>
              <a:rPr lang="en-US" sz="1000" dirty="0">
                <a:solidFill>
                  <a:srgbClr val="2A2A2A"/>
                </a:solidFill>
                <a:latin typeface="Calibri" pitchFamily="34" charset="0"/>
                <a:ea typeface="Calibri" pitchFamily="34" charset="-122"/>
                <a:cs typeface="Calibri" pitchFamily="34" charset="-120"/>
              </a:rPr>
              <a:t>B.A.T</a:t>
            </a:r>
            <a:endParaRPr lang="en-US" sz="1000" dirty="0"/>
          </a:p>
          <a:p>
            <a:pPr algn="ctr" indent="0" marL="0">
              <a:buNone/>
            </a:pPr>
            <a:r>
              <a:rPr lang="en-US" sz="1000" dirty="0">
                <a:solidFill>
                  <a:srgbClr val="2A2A2A"/>
                </a:solidFill>
                <a:latin typeface="Calibri" pitchFamily="34" charset="0"/>
                <a:ea typeface="Calibri" pitchFamily="34" charset="-122"/>
                <a:cs typeface="Calibri" pitchFamily="34" charset="-120"/>
              </a:rPr>
              <a:t>(B.B / B.A / B.M)</a:t>
            </a:r>
            <a:endParaRPr lang="en-US" sz="1000" dirty="0"/>
          </a:p>
        </p:txBody>
      </p:sp>
      <p:sp>
        <p:nvSpPr>
          <p:cNvPr id="49" name="Text 47"/>
          <p:cNvSpPr txBox="1"/>
          <p:nvPr/>
        </p:nvSpPr>
        <p:spPr>
          <a:xfrm>
            <a:off x="365760" y="6446520"/>
            <a:ext cx="7315200" cy="274320"/>
          </a:xfrm>
          <a:prstGeom prst="rect">
            <a:avLst/>
          </a:prstGeom>
          <a:noFill/>
          <a:ln/>
        </p:spPr>
        <p:txBody>
          <a:bodyPr wrap="square" lIns="0" tIns="0" rIns="0" bIns="0" rtlCol="0" anchor="ctr"/>
          <a:lstStyle/>
          <a:p>
            <a:pPr indent="0" marL="0">
              <a:buNone/>
            </a:pPr>
            <a:r>
              <a:rPr lang="en-US" sz="950" b="1" dirty="0">
                <a:solidFill>
                  <a:srgbClr val="6B7280"/>
                </a:solidFill>
                <a:latin typeface="Calibri" pitchFamily="34" charset="0"/>
                <a:ea typeface="Calibri" pitchFamily="34" charset="-122"/>
                <a:cs typeface="Calibri" pitchFamily="34" charset="-120"/>
              </a:rPr>
              <a:t>Statut :  </a:t>
            </a:r>
            <a:pPr indent="0" marL="0">
              <a:buNone/>
            </a:pPr>
            <a:r>
              <a:rPr lang="en-US" sz="950" b="1" dirty="0">
                <a:solidFill>
                  <a:srgbClr val="D97D4A"/>
                </a:solidFill>
                <a:latin typeface="Calibri" pitchFamily="34" charset="0"/>
                <a:ea typeface="Calibri" pitchFamily="34" charset="-122"/>
                <a:cs typeface="Calibri" pitchFamily="34" charset="-120"/>
              </a:rPr>
              <a:t>Orange = En cours   </a:t>
            </a:r>
            <a:pPr indent="0" marL="0">
              <a:buNone/>
            </a:pPr>
            <a:r>
              <a:rPr lang="en-US" sz="950" b="1" dirty="0">
                <a:solidFill>
                  <a:srgbClr val="8C97A8"/>
                </a:solidFill>
                <a:latin typeface="Calibri" pitchFamily="34" charset="0"/>
                <a:ea typeface="Calibri" pitchFamily="34" charset="-122"/>
                <a:cs typeface="Calibri" pitchFamily="34" charset="-120"/>
              </a:rPr>
              <a:t>Gris = Non commencé</a:t>
            </a:r>
            <a:endParaRPr lang="en-US" sz="950" dirty="0"/>
          </a:p>
        </p:txBody>
      </p:sp>
      <p:sp>
        <p:nvSpPr>
          <p:cNvPr id="50" name="Text 48"/>
          <p:cNvSpPr txBox="1"/>
          <p:nvPr/>
        </p:nvSpPr>
        <p:spPr>
          <a:xfrm>
            <a:off x="7680960" y="6446520"/>
            <a:ext cx="4144975"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Mise à jour : 02/09/2026</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1B2A56"/>
          </a:solidFill>
          <a:ln/>
        </p:spPr>
      </p:sp>
      <p:sp>
        <p:nvSpPr>
          <p:cNvPr id="3" name="Text 1"/>
          <p:cNvSpPr txBox="1"/>
          <p:nvPr/>
        </p:nvSpPr>
        <p:spPr>
          <a:xfrm>
            <a:off x="365760" y="146304"/>
            <a:ext cx="11460175"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TABLEAU DE BORD – SUIVI DES PROJETS</a:t>
            </a:r>
            <a:endParaRPr lang="en-US" sz="2600" dirty="0"/>
          </a:p>
        </p:txBody>
      </p:sp>
      <p:sp>
        <p:nvSpPr>
          <p:cNvPr id="4" name="Text 2"/>
          <p:cNvSpPr txBox="1"/>
          <p:nvPr/>
        </p:nvSpPr>
        <p:spPr>
          <a:xfrm>
            <a:off x="365760" y="621792"/>
            <a:ext cx="10728655" cy="320040"/>
          </a:xfrm>
          <a:prstGeom prst="rect">
            <a:avLst/>
          </a:prstGeom>
          <a:noFill/>
          <a:ln/>
        </p:spPr>
        <p:txBody>
          <a:bodyPr wrap="square" lIns="0" tIns="0" rIns="0" bIns="0"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Développement / Maintenance / Mise à jour (suite)</a:t>
            </a:r>
            <a:endParaRPr lang="en-US" sz="1300" dirty="0"/>
          </a:p>
        </p:txBody>
      </p:sp>
      <p:sp>
        <p:nvSpPr>
          <p:cNvPr id="5" name="Text 3"/>
          <p:cNvSpPr txBox="1"/>
          <p:nvPr/>
        </p:nvSpPr>
        <p:spPr>
          <a:xfrm>
            <a:off x="11094415" y="621792"/>
            <a:ext cx="731520" cy="320040"/>
          </a:xfrm>
          <a:prstGeom prst="rect">
            <a:avLst/>
          </a:prstGeom>
          <a:noFill/>
          <a:ln/>
        </p:spPr>
        <p:txBody>
          <a:bodyPr wrap="square" lIns="0" tIns="0" rIns="0" bIns="0" rtlCol="0" anchor="ctr"/>
          <a:lstStyle/>
          <a:p>
            <a:pPr algn="r" indent="0" marL="0">
              <a:buNone/>
            </a:pPr>
            <a:r>
              <a:rPr lang="en-US" sz="1100" dirty="0">
                <a:solidFill>
                  <a:srgbClr val="CADCFC"/>
                </a:solidFill>
                <a:latin typeface="Calibri" pitchFamily="34" charset="0"/>
                <a:ea typeface="Calibri" pitchFamily="34" charset="-122"/>
                <a:cs typeface="Calibri" pitchFamily="34" charset="-120"/>
              </a:rPr>
              <a:t>2 / 3</a:t>
            </a:r>
            <a:endParaRPr lang="en-US" sz="1100" dirty="0"/>
          </a:p>
        </p:txBody>
      </p:sp>
      <p:sp>
        <p:nvSpPr>
          <p:cNvPr id="6" name="Shape 4"/>
          <p:cNvSpPr/>
          <p:nvPr/>
        </p:nvSpPr>
        <p:spPr>
          <a:xfrm>
            <a:off x="365760" y="1417320"/>
            <a:ext cx="11460175" cy="384048"/>
          </a:xfrm>
          <a:prstGeom prst="rect">
            <a:avLst/>
          </a:prstGeom>
          <a:solidFill>
            <a:srgbClr val="0F7173"/>
          </a:solidFill>
          <a:ln/>
        </p:spPr>
      </p:sp>
      <p:sp>
        <p:nvSpPr>
          <p:cNvPr id="7" name="Text 5"/>
          <p:cNvSpPr txBox="1"/>
          <p:nvPr/>
        </p:nvSpPr>
        <p:spPr>
          <a:xfrm>
            <a:off x="365760" y="1417320"/>
            <a:ext cx="146304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NOM PROJET</a:t>
            </a:r>
            <a:endParaRPr lang="en-US" sz="1050" dirty="0"/>
          </a:p>
        </p:txBody>
      </p:sp>
      <p:sp>
        <p:nvSpPr>
          <p:cNvPr id="8" name="Text 6"/>
          <p:cNvSpPr txBox="1"/>
          <p:nvPr/>
        </p:nvSpPr>
        <p:spPr>
          <a:xfrm>
            <a:off x="1874520" y="1417320"/>
            <a:ext cx="91440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STATUT</a:t>
            </a:r>
            <a:endParaRPr lang="en-US" sz="1050" dirty="0"/>
          </a:p>
        </p:txBody>
      </p:sp>
      <p:sp>
        <p:nvSpPr>
          <p:cNvPr id="9" name="Text 7"/>
          <p:cNvSpPr txBox="1"/>
          <p:nvPr/>
        </p:nvSpPr>
        <p:spPr>
          <a:xfrm>
            <a:off x="2880360" y="1417320"/>
            <a:ext cx="3246120" cy="384048"/>
          </a:xfrm>
          <a:prstGeom prst="rect">
            <a:avLst/>
          </a:prstGeom>
          <a:noFill/>
          <a:ln/>
        </p:spPr>
        <p:txBody>
          <a:bodyPr wrap="square" lIns="0" tIns="12700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DESCRIPTION</a:t>
            </a:r>
            <a:endParaRPr lang="en-US" sz="1050" dirty="0"/>
          </a:p>
        </p:txBody>
      </p:sp>
      <p:sp>
        <p:nvSpPr>
          <p:cNvPr id="10" name="Text 8"/>
          <p:cNvSpPr txBox="1"/>
          <p:nvPr/>
        </p:nvSpPr>
        <p:spPr>
          <a:xfrm>
            <a:off x="6217920" y="1417320"/>
            <a:ext cx="2286000" cy="384048"/>
          </a:xfrm>
          <a:prstGeom prst="rect">
            <a:avLst/>
          </a:prstGeom>
          <a:noFill/>
          <a:ln/>
        </p:spPr>
        <p:txBody>
          <a:bodyPr wrap="square" lIns="0" tIns="12700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À FAIRE</a:t>
            </a:r>
            <a:endParaRPr lang="en-US" sz="1050" dirty="0"/>
          </a:p>
        </p:txBody>
      </p:sp>
      <p:sp>
        <p:nvSpPr>
          <p:cNvPr id="11" name="Text 9"/>
          <p:cNvSpPr txBox="1"/>
          <p:nvPr/>
        </p:nvSpPr>
        <p:spPr>
          <a:xfrm>
            <a:off x="8595360" y="1417320"/>
            <a:ext cx="118872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ÉCHÉANCE</a:t>
            </a:r>
            <a:endParaRPr lang="en-US" sz="1050" dirty="0"/>
          </a:p>
        </p:txBody>
      </p:sp>
      <p:sp>
        <p:nvSpPr>
          <p:cNvPr id="12" name="Text 10"/>
          <p:cNvSpPr txBox="1"/>
          <p:nvPr/>
        </p:nvSpPr>
        <p:spPr>
          <a:xfrm>
            <a:off x="9875520" y="1417320"/>
            <a:ext cx="192024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RESPONSABLE</a:t>
            </a:r>
            <a:endParaRPr lang="en-US" sz="1050" dirty="0"/>
          </a:p>
        </p:txBody>
      </p:sp>
      <p:sp>
        <p:nvSpPr>
          <p:cNvPr id="13" name="Shape 11"/>
          <p:cNvSpPr/>
          <p:nvPr/>
        </p:nvSpPr>
        <p:spPr>
          <a:xfrm>
            <a:off x="365760" y="1801368"/>
            <a:ext cx="11460175" cy="1149858"/>
          </a:xfrm>
          <a:prstGeom prst="rect">
            <a:avLst/>
          </a:prstGeom>
          <a:solidFill>
            <a:srgbClr val="FFFFFF"/>
          </a:solidFill>
          <a:ln w="9525">
            <a:solidFill>
              <a:srgbClr val="E3E7EC"/>
            </a:solidFill>
            <a:prstDash val="solid"/>
          </a:ln>
        </p:spPr>
      </p:sp>
      <p:sp>
        <p:nvSpPr>
          <p:cNvPr id="14" name="Text 12"/>
          <p:cNvSpPr txBox="1"/>
          <p:nvPr/>
        </p:nvSpPr>
        <p:spPr>
          <a:xfrm>
            <a:off x="457200" y="1801368"/>
            <a:ext cx="1280160" cy="1149858"/>
          </a:xfrm>
          <a:prstGeom prst="rect">
            <a:avLst/>
          </a:prstGeom>
          <a:noFill/>
          <a:ln/>
        </p:spPr>
        <p:txBody>
          <a:bodyPr wrap="square" lIns="0" tIns="0" rIns="0" bIns="0" rtlCol="0" anchor="ctr"/>
          <a:lstStyle/>
          <a:p>
            <a:pPr algn="l" indent="0" marL="0">
              <a:buNone/>
            </a:pPr>
            <a:r>
              <a:rPr lang="en-US" sz="1150" b="1" dirty="0">
                <a:solidFill>
                  <a:srgbClr val="2A2A2A"/>
                </a:solidFill>
                <a:latin typeface="Calibri" pitchFamily="34" charset="0"/>
                <a:ea typeface="Calibri" pitchFamily="34" charset="-122"/>
                <a:cs typeface="Calibri" pitchFamily="34" charset="-120"/>
              </a:rPr>
              <a:t>Contrôle des politiques</a:t>
            </a:r>
            <a:endParaRPr lang="en-US" sz="1150" dirty="0"/>
          </a:p>
          <a:p>
            <a:pPr algn="l" indent="0" marL="0">
              <a:buNone/>
            </a:pPr>
            <a:r>
              <a:rPr lang="en-US" sz="1150" b="1" dirty="0">
                <a:solidFill>
                  <a:srgbClr val="2A2A2A"/>
                </a:solidFill>
                <a:latin typeface="Calibri" pitchFamily="34" charset="0"/>
                <a:ea typeface="Calibri" pitchFamily="34" charset="-122"/>
                <a:cs typeface="Calibri" pitchFamily="34" charset="-120"/>
              </a:rPr>
              <a:t>risques / PBI</a:t>
            </a:r>
            <a:endParaRPr lang="en-US" sz="1150" dirty="0"/>
          </a:p>
        </p:txBody>
      </p:sp>
      <p:sp>
        <p:nvSpPr>
          <p:cNvPr id="15" name="Shape 13"/>
          <p:cNvSpPr/>
          <p:nvPr/>
        </p:nvSpPr>
        <p:spPr>
          <a:xfrm>
            <a:off x="1897380" y="2083689"/>
            <a:ext cx="868680" cy="256032"/>
          </a:xfrm>
          <a:prstGeom prst="roundRect">
            <a:avLst>
              <a:gd name="adj" fmla="val 28571"/>
            </a:avLst>
          </a:prstGeom>
          <a:solidFill>
            <a:srgbClr val="8C97A8"/>
          </a:solidFill>
          <a:ln/>
        </p:spPr>
      </p:sp>
      <p:sp>
        <p:nvSpPr>
          <p:cNvPr id="16" name="Text 14"/>
          <p:cNvSpPr txBox="1"/>
          <p:nvPr/>
        </p:nvSpPr>
        <p:spPr>
          <a:xfrm>
            <a:off x="1874520" y="2083689"/>
            <a:ext cx="91440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NON COMMENCÉ</a:t>
            </a:r>
            <a:endParaRPr lang="en-US" sz="800" dirty="0"/>
          </a:p>
        </p:txBody>
      </p:sp>
      <p:sp>
        <p:nvSpPr>
          <p:cNvPr id="17" name="Text 15"/>
          <p:cNvSpPr txBox="1"/>
          <p:nvPr/>
        </p:nvSpPr>
        <p:spPr>
          <a:xfrm>
            <a:off x="1874520" y="2431161"/>
            <a:ext cx="914400" cy="274320"/>
          </a:xfrm>
          <a:prstGeom prst="rect">
            <a:avLst/>
          </a:prstGeom>
          <a:noFill/>
          <a:ln/>
        </p:spPr>
        <p:txBody>
          <a:bodyPr wrap="square" lIns="0" tIns="0" rIns="0" bIns="0" rtlCol="0" anchor="ctr"/>
          <a:lstStyle/>
          <a:p>
            <a:pPr algn="ctr" indent="0" marL="0">
              <a:buNone/>
            </a:pPr>
            <a:r>
              <a:rPr lang="en-US" sz="1300" b="1" dirty="0">
                <a:solidFill>
                  <a:srgbClr val="2E7D32"/>
                </a:solidFill>
                <a:latin typeface="Calibri" pitchFamily="34" charset="0"/>
                <a:ea typeface="Calibri" pitchFamily="34" charset="-122"/>
                <a:cs typeface="Calibri" pitchFamily="34" charset="-120"/>
              </a:rPr>
              <a:t>0%</a:t>
            </a:r>
            <a:endParaRPr lang="en-US" sz="1300" dirty="0"/>
          </a:p>
        </p:txBody>
      </p:sp>
      <p:sp>
        <p:nvSpPr>
          <p:cNvPr id="18" name="Text 16"/>
          <p:cNvSpPr txBox="1"/>
          <p:nvPr/>
        </p:nvSpPr>
        <p:spPr>
          <a:xfrm>
            <a:off x="2880360" y="1856232"/>
            <a:ext cx="3108960" cy="1040130"/>
          </a:xfrm>
          <a:prstGeom prst="rect">
            <a:avLst/>
          </a:prstGeom>
          <a:noFill/>
          <a:ln/>
        </p:spPr>
        <p:txBody>
          <a:bodyPr wrap="square" lIns="0" tIns="0" rIns="0" bIns="0" rtlCol="0" anchor="ctr"/>
          <a:lstStyle/>
          <a:p>
            <a:pPr algn="l" indent="0" marL="0">
              <a:lnSpc>
                <a:spcPct val="105000"/>
              </a:lnSpc>
              <a:buNone/>
            </a:pPr>
            <a:r>
              <a:rPr lang="en-US" sz="900" i="1" dirty="0">
                <a:solidFill>
                  <a:srgbClr val="6B7280"/>
                </a:solidFill>
                <a:latin typeface="Calibri" pitchFamily="34" charset="0"/>
                <a:ea typeface="Calibri" pitchFamily="34" charset="-122"/>
                <a:cs typeface="Calibri" pitchFamily="34" charset="-120"/>
              </a:rPr>
              <a:t>Faire évoluer les données pour indiquer et restituer la version de la politique contrôlée (Mois/Année). Automatiser le déversement dans l'outil workflow 2.2 pour échange et publication des résultats avec les établissements. Donner la possibilité à l'utilisateur du PBI de sélectionner la date de la politique donnée et du contrôle effectué.</a:t>
            </a:r>
            <a:endParaRPr lang="en-US" sz="900" dirty="0"/>
          </a:p>
        </p:txBody>
      </p:sp>
      <p:sp>
        <p:nvSpPr>
          <p:cNvPr id="19" name="Text 17"/>
          <p:cNvSpPr txBox="1"/>
          <p:nvPr/>
        </p:nvSpPr>
        <p:spPr>
          <a:xfrm>
            <a:off x="6217920" y="1856232"/>
            <a:ext cx="2148840" cy="1040130"/>
          </a:xfrm>
          <a:prstGeom prst="rect">
            <a:avLst/>
          </a:prstGeom>
          <a:noFill/>
          <a:ln/>
        </p:spPr>
        <p:txBody>
          <a:bodyPr wrap="square" lIns="0" tIns="0" rIns="0" bIns="0" rtlCol="0" anchor="ctr"/>
          <a:lstStyle/>
          <a:p>
            <a:pPr algn="l" marL="342900" indent="-342900">
              <a:lnSpc>
                <a:spcPct val="105000"/>
              </a:lnSpc>
              <a:spcAft>
                <a:spcPts val="400"/>
              </a:spcAft>
              <a:buSzPct val="100000"/>
              <a:buChar char="•"/>
            </a:pPr>
            <a:r>
              <a:rPr lang="en-US" sz="950" dirty="0">
                <a:solidFill>
                  <a:srgbClr val="2A2A2A"/>
                </a:solidFill>
                <a:latin typeface="Calibri" pitchFamily="34" charset="0"/>
                <a:ea typeface="Calibri" pitchFamily="34" charset="-122"/>
                <a:cs typeface="Calibri" pitchFamily="34" charset="-120"/>
              </a:rPr>
              <a:t>Restituer la version de la politique contrôlée (mois/année)</a:t>
            </a:r>
            <a:endParaRPr lang="en-US" sz="950" dirty="0"/>
          </a:p>
          <a:p>
            <a:pPr algn="l" marL="342900" indent="-342900">
              <a:lnSpc>
                <a:spcPct val="105000"/>
              </a:lnSpc>
              <a:spcAft>
                <a:spcPts val="400"/>
              </a:spcAft>
              <a:buSzPct val="100000"/>
              <a:buChar char="•"/>
            </a:pPr>
            <a:r>
              <a:rPr lang="en-US" sz="950" dirty="0">
                <a:solidFill>
                  <a:srgbClr val="2A2A2A"/>
                </a:solidFill>
                <a:latin typeface="Calibri" pitchFamily="34" charset="0"/>
                <a:ea typeface="Calibri" pitchFamily="34" charset="-122"/>
                <a:cs typeface="Calibri" pitchFamily="34" charset="-120"/>
              </a:rPr>
              <a:t>Automatiser le déversement dans le workflow 2.2 vers les établissements</a:t>
            </a:r>
            <a:endParaRPr lang="en-US" sz="950" dirty="0"/>
          </a:p>
        </p:txBody>
      </p:sp>
      <p:sp>
        <p:nvSpPr>
          <p:cNvPr id="20" name="Text 18"/>
          <p:cNvSpPr txBox="1"/>
          <p:nvPr/>
        </p:nvSpPr>
        <p:spPr>
          <a:xfrm>
            <a:off x="8595360" y="1801368"/>
            <a:ext cx="1097280" cy="1149858"/>
          </a:xfrm>
          <a:prstGeom prst="rect">
            <a:avLst/>
          </a:prstGeom>
          <a:noFill/>
          <a:ln/>
        </p:spPr>
        <p:txBody>
          <a:bodyPr wrap="square" lIns="0" tIns="0" rIns="0" bIns="0" rtlCol="0" anchor="ctr"/>
          <a:lstStyle/>
          <a:p>
            <a:pPr algn="ctr" indent="0" marL="0">
              <a:buNone/>
            </a:pPr>
            <a:r>
              <a:rPr lang="en-US" sz="950" dirty="0">
                <a:solidFill>
                  <a:srgbClr val="2A2A2A"/>
                </a:solidFill>
                <a:latin typeface="Calibri" pitchFamily="34" charset="0"/>
                <a:ea typeface="Calibri" pitchFamily="34" charset="-122"/>
                <a:cs typeface="Calibri" pitchFamily="34" charset="-120"/>
              </a:rPr>
              <a:t>31/12/2026</a:t>
            </a:r>
            <a:endParaRPr lang="en-US" sz="950" dirty="0"/>
          </a:p>
        </p:txBody>
      </p:sp>
      <p:sp>
        <p:nvSpPr>
          <p:cNvPr id="21" name="Text 19"/>
          <p:cNvSpPr txBox="1"/>
          <p:nvPr/>
        </p:nvSpPr>
        <p:spPr>
          <a:xfrm>
            <a:off x="9875520" y="1801368"/>
            <a:ext cx="1828800" cy="1149858"/>
          </a:xfrm>
          <a:prstGeom prst="rect">
            <a:avLst/>
          </a:prstGeom>
          <a:noFill/>
          <a:ln/>
        </p:spPr>
        <p:txBody>
          <a:bodyPr wrap="square" lIns="0" tIns="0" rIns="0" bIns="0" rtlCol="0" anchor="ctr"/>
          <a:lstStyle/>
          <a:p>
            <a:pPr algn="ctr" indent="0" marL="0">
              <a:buNone/>
            </a:pPr>
            <a:r>
              <a:rPr lang="en-US" sz="1000" dirty="0">
                <a:solidFill>
                  <a:srgbClr val="2A2A2A"/>
                </a:solidFill>
                <a:latin typeface="Calibri" pitchFamily="34" charset="0"/>
                <a:ea typeface="Calibri" pitchFamily="34" charset="-122"/>
                <a:cs typeface="Calibri" pitchFamily="34" charset="-120"/>
              </a:rPr>
              <a:t>B.M / B.A.T / P.J</a:t>
            </a:r>
            <a:endParaRPr lang="en-US" sz="1000" dirty="0"/>
          </a:p>
        </p:txBody>
      </p:sp>
      <p:sp>
        <p:nvSpPr>
          <p:cNvPr id="22" name="Shape 20"/>
          <p:cNvSpPr/>
          <p:nvPr/>
        </p:nvSpPr>
        <p:spPr>
          <a:xfrm>
            <a:off x="365760" y="2951226"/>
            <a:ext cx="11460175" cy="1149858"/>
          </a:xfrm>
          <a:prstGeom prst="rect">
            <a:avLst/>
          </a:prstGeom>
          <a:solidFill>
            <a:srgbClr val="F3F6F8"/>
          </a:solidFill>
          <a:ln w="9525">
            <a:solidFill>
              <a:srgbClr val="E3E7EC"/>
            </a:solidFill>
            <a:prstDash val="solid"/>
          </a:ln>
        </p:spPr>
      </p:sp>
      <p:sp>
        <p:nvSpPr>
          <p:cNvPr id="23" name="Text 21"/>
          <p:cNvSpPr txBox="1"/>
          <p:nvPr/>
        </p:nvSpPr>
        <p:spPr>
          <a:xfrm>
            <a:off x="457200" y="2951226"/>
            <a:ext cx="1280160" cy="1149858"/>
          </a:xfrm>
          <a:prstGeom prst="rect">
            <a:avLst/>
          </a:prstGeom>
          <a:noFill/>
          <a:ln/>
        </p:spPr>
        <p:txBody>
          <a:bodyPr wrap="square" lIns="0" tIns="0" rIns="0" bIns="0" rtlCol="0" anchor="ctr"/>
          <a:lstStyle/>
          <a:p>
            <a:pPr algn="l" indent="0" marL="0">
              <a:buNone/>
            </a:pPr>
            <a:r>
              <a:rPr lang="en-US" sz="1150" b="1" dirty="0">
                <a:solidFill>
                  <a:srgbClr val="2A2A2A"/>
                </a:solidFill>
                <a:latin typeface="Calibri" pitchFamily="34" charset="0"/>
                <a:ea typeface="Calibri" pitchFamily="34" charset="-122"/>
                <a:cs typeface="Calibri" pitchFamily="34" charset="-120"/>
              </a:rPr>
              <a:t>Collecte politiques</a:t>
            </a:r>
            <a:endParaRPr lang="en-US" sz="1150" dirty="0"/>
          </a:p>
          <a:p>
            <a:pPr algn="l" indent="0" marL="0">
              <a:buNone/>
            </a:pPr>
            <a:r>
              <a:rPr lang="en-US" sz="1150" b="1" dirty="0">
                <a:solidFill>
                  <a:srgbClr val="2A2A2A"/>
                </a:solidFill>
                <a:latin typeface="Calibri" pitchFamily="34" charset="0"/>
                <a:ea typeface="Calibri" pitchFamily="34" charset="-122"/>
                <a:cs typeface="Calibri" pitchFamily="34" charset="-120"/>
              </a:rPr>
              <a:t>(Crédit Conso / Crédit Pro 2026...)</a:t>
            </a:r>
            <a:endParaRPr lang="en-US" sz="1150" dirty="0"/>
          </a:p>
        </p:txBody>
      </p:sp>
      <p:sp>
        <p:nvSpPr>
          <p:cNvPr id="24" name="Shape 22"/>
          <p:cNvSpPr/>
          <p:nvPr/>
        </p:nvSpPr>
        <p:spPr>
          <a:xfrm>
            <a:off x="1897380" y="3233547"/>
            <a:ext cx="868680" cy="256032"/>
          </a:xfrm>
          <a:prstGeom prst="roundRect">
            <a:avLst>
              <a:gd name="adj" fmla="val 28571"/>
            </a:avLst>
          </a:prstGeom>
          <a:solidFill>
            <a:srgbClr val="8C97A8"/>
          </a:solidFill>
          <a:ln/>
        </p:spPr>
      </p:sp>
      <p:sp>
        <p:nvSpPr>
          <p:cNvPr id="25" name="Text 23"/>
          <p:cNvSpPr txBox="1"/>
          <p:nvPr/>
        </p:nvSpPr>
        <p:spPr>
          <a:xfrm>
            <a:off x="1874520" y="3233547"/>
            <a:ext cx="91440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NON COMMENCÉ</a:t>
            </a:r>
            <a:endParaRPr lang="en-US" sz="800" dirty="0"/>
          </a:p>
        </p:txBody>
      </p:sp>
      <p:sp>
        <p:nvSpPr>
          <p:cNvPr id="26" name="Text 24"/>
          <p:cNvSpPr txBox="1"/>
          <p:nvPr/>
        </p:nvSpPr>
        <p:spPr>
          <a:xfrm>
            <a:off x="1874520" y="3581019"/>
            <a:ext cx="914400" cy="274320"/>
          </a:xfrm>
          <a:prstGeom prst="rect">
            <a:avLst/>
          </a:prstGeom>
          <a:noFill/>
          <a:ln/>
        </p:spPr>
        <p:txBody>
          <a:bodyPr wrap="square" lIns="0" tIns="0" rIns="0" bIns="0" rtlCol="0" anchor="ctr"/>
          <a:lstStyle/>
          <a:p>
            <a:pPr algn="ctr" indent="0" marL="0">
              <a:buNone/>
            </a:pPr>
            <a:r>
              <a:rPr lang="en-US" sz="1300" b="1" dirty="0">
                <a:solidFill>
                  <a:srgbClr val="2E7D32"/>
                </a:solidFill>
                <a:latin typeface="Calibri" pitchFamily="34" charset="0"/>
                <a:ea typeface="Calibri" pitchFamily="34" charset="-122"/>
                <a:cs typeface="Calibri" pitchFamily="34" charset="-120"/>
              </a:rPr>
              <a:t>0%</a:t>
            </a:r>
            <a:endParaRPr lang="en-US" sz="1300" dirty="0"/>
          </a:p>
        </p:txBody>
      </p:sp>
      <p:sp>
        <p:nvSpPr>
          <p:cNvPr id="27" name="Text 25"/>
          <p:cNvSpPr txBox="1"/>
          <p:nvPr/>
        </p:nvSpPr>
        <p:spPr>
          <a:xfrm>
            <a:off x="2880360" y="3006090"/>
            <a:ext cx="3108960" cy="1040130"/>
          </a:xfrm>
          <a:prstGeom prst="rect">
            <a:avLst/>
          </a:prstGeom>
          <a:noFill/>
          <a:ln/>
        </p:spPr>
        <p:txBody>
          <a:bodyPr wrap="square" lIns="0" tIns="0" rIns="0" bIns="0" rtlCol="0" anchor="ctr"/>
          <a:lstStyle/>
          <a:p>
            <a:pPr algn="l" indent="0" marL="0">
              <a:lnSpc>
                <a:spcPct val="105000"/>
              </a:lnSpc>
              <a:buNone/>
            </a:pPr>
            <a:r>
              <a:rPr lang="en-US" sz="900" i="1" dirty="0">
                <a:solidFill>
                  <a:srgbClr val="6B7280"/>
                </a:solidFill>
                <a:latin typeface="Calibri" pitchFamily="34" charset="0"/>
                <a:ea typeface="Calibri" pitchFamily="34" charset="-122"/>
                <a:cs typeface="Calibri" pitchFamily="34" charset="-120"/>
              </a:rPr>
              <a:t>Intégration dans le PBI et le workflow 2.2 des résultats des contrôles IA et 2.2 définitifs.</a:t>
            </a:r>
            <a:endParaRPr lang="en-US" sz="900" dirty="0"/>
          </a:p>
        </p:txBody>
      </p:sp>
      <p:sp>
        <p:nvSpPr>
          <p:cNvPr id="28" name="Text 26"/>
          <p:cNvSpPr txBox="1"/>
          <p:nvPr/>
        </p:nvSpPr>
        <p:spPr>
          <a:xfrm>
            <a:off x="6217920" y="3006090"/>
            <a:ext cx="2148840" cy="1040130"/>
          </a:xfrm>
          <a:prstGeom prst="rect">
            <a:avLst/>
          </a:prstGeom>
          <a:noFill/>
          <a:ln/>
        </p:spPr>
        <p:txBody>
          <a:bodyPr wrap="square" lIns="0" tIns="0" rIns="0" bIns="0" rtlCol="0" anchor="ctr"/>
          <a:lstStyle/>
          <a:p>
            <a:pPr algn="l" marL="342900" indent="-342900">
              <a:lnSpc>
                <a:spcPct val="105000"/>
              </a:lnSpc>
              <a:spcAft>
                <a:spcPts val="400"/>
              </a:spcAft>
              <a:buSzPct val="100000"/>
              <a:buChar char="•"/>
            </a:pPr>
            <a:r>
              <a:rPr lang="en-US" sz="950" dirty="0">
                <a:solidFill>
                  <a:srgbClr val="2A2A2A"/>
                </a:solidFill>
                <a:latin typeface="Calibri" pitchFamily="34" charset="0"/>
                <a:ea typeface="Calibri" pitchFamily="34" charset="-122"/>
                <a:cs typeface="Calibri" pitchFamily="34" charset="-120"/>
              </a:rPr>
              <a:t>Intégrer dans le PBI et le workflow 2.2 les résultats des contrôles IA et 2.2</a:t>
            </a:r>
            <a:endParaRPr lang="en-US" sz="950" dirty="0"/>
          </a:p>
        </p:txBody>
      </p:sp>
      <p:sp>
        <p:nvSpPr>
          <p:cNvPr id="29" name="Text 27"/>
          <p:cNvSpPr txBox="1"/>
          <p:nvPr/>
        </p:nvSpPr>
        <p:spPr>
          <a:xfrm>
            <a:off x="8595360" y="2951226"/>
            <a:ext cx="1097280" cy="1149858"/>
          </a:xfrm>
          <a:prstGeom prst="rect">
            <a:avLst/>
          </a:prstGeom>
          <a:noFill/>
          <a:ln/>
        </p:spPr>
        <p:txBody>
          <a:bodyPr wrap="square" lIns="0" tIns="0" rIns="0" bIns="0" rtlCol="0" anchor="ctr"/>
          <a:lstStyle/>
          <a:p>
            <a:pPr algn="ctr" indent="0" marL="0">
              <a:buNone/>
            </a:pPr>
            <a:r>
              <a:rPr lang="en-US" sz="950" dirty="0">
                <a:solidFill>
                  <a:srgbClr val="2A2A2A"/>
                </a:solidFill>
                <a:latin typeface="Calibri" pitchFamily="34" charset="0"/>
                <a:ea typeface="Calibri" pitchFamily="34" charset="-122"/>
                <a:cs typeface="Calibri" pitchFamily="34" charset="-120"/>
              </a:rPr>
              <a:t>ASAP</a:t>
            </a:r>
            <a:endParaRPr lang="en-US" sz="950" dirty="0"/>
          </a:p>
        </p:txBody>
      </p:sp>
      <p:sp>
        <p:nvSpPr>
          <p:cNvPr id="30" name="Text 28"/>
          <p:cNvSpPr txBox="1"/>
          <p:nvPr/>
        </p:nvSpPr>
        <p:spPr>
          <a:xfrm>
            <a:off x="9875520" y="2951226"/>
            <a:ext cx="1828800" cy="1149858"/>
          </a:xfrm>
          <a:prstGeom prst="rect">
            <a:avLst/>
          </a:prstGeom>
          <a:noFill/>
          <a:ln/>
        </p:spPr>
        <p:txBody>
          <a:bodyPr wrap="square" lIns="0" tIns="0" rIns="0" bIns="0" rtlCol="0" anchor="ctr"/>
          <a:lstStyle/>
          <a:p>
            <a:pPr algn="ctr" indent="0" marL="0">
              <a:buNone/>
            </a:pPr>
            <a:r>
              <a:rPr lang="en-US" sz="1000" dirty="0">
                <a:solidFill>
                  <a:srgbClr val="2A2A2A"/>
                </a:solidFill>
                <a:latin typeface="Calibri" pitchFamily="34" charset="0"/>
                <a:ea typeface="Calibri" pitchFamily="34" charset="-122"/>
                <a:cs typeface="Calibri" pitchFamily="34" charset="-120"/>
              </a:rPr>
              <a:t>B.B</a:t>
            </a:r>
            <a:endParaRPr lang="en-US" sz="1000" dirty="0"/>
          </a:p>
        </p:txBody>
      </p:sp>
      <p:sp>
        <p:nvSpPr>
          <p:cNvPr id="31" name="Shape 29"/>
          <p:cNvSpPr/>
          <p:nvPr/>
        </p:nvSpPr>
        <p:spPr>
          <a:xfrm>
            <a:off x="365760" y="4101084"/>
            <a:ext cx="11460175" cy="1149858"/>
          </a:xfrm>
          <a:prstGeom prst="rect">
            <a:avLst/>
          </a:prstGeom>
          <a:solidFill>
            <a:srgbClr val="FFFFFF"/>
          </a:solidFill>
          <a:ln w="9525">
            <a:solidFill>
              <a:srgbClr val="E3E7EC"/>
            </a:solidFill>
            <a:prstDash val="solid"/>
          </a:ln>
        </p:spPr>
      </p:sp>
      <p:sp>
        <p:nvSpPr>
          <p:cNvPr id="32" name="Text 30"/>
          <p:cNvSpPr txBox="1"/>
          <p:nvPr/>
        </p:nvSpPr>
        <p:spPr>
          <a:xfrm>
            <a:off x="457200" y="4101084"/>
            <a:ext cx="1280160" cy="1149858"/>
          </a:xfrm>
          <a:prstGeom prst="rect">
            <a:avLst/>
          </a:prstGeom>
          <a:noFill/>
          <a:ln/>
        </p:spPr>
        <p:txBody>
          <a:bodyPr wrap="square" lIns="0" tIns="0" rIns="0" bIns="0" rtlCol="0" anchor="ctr"/>
          <a:lstStyle/>
          <a:p>
            <a:pPr algn="l" indent="0" marL="0">
              <a:buNone/>
            </a:pPr>
            <a:r>
              <a:rPr lang="en-US" sz="1150" b="1" dirty="0">
                <a:solidFill>
                  <a:srgbClr val="2A2A2A"/>
                </a:solidFill>
                <a:latin typeface="Calibri" pitchFamily="34" charset="0"/>
                <a:ea typeface="Calibri" pitchFamily="34" charset="-122"/>
                <a:cs typeface="Calibri" pitchFamily="34" charset="-120"/>
              </a:rPr>
              <a:t>Complément de développement</a:t>
            </a:r>
            <a:endParaRPr lang="en-US" sz="1150" dirty="0"/>
          </a:p>
          <a:p>
            <a:pPr algn="l" indent="0" marL="0">
              <a:buNone/>
            </a:pPr>
            <a:r>
              <a:rPr lang="en-US" sz="1150" b="1" dirty="0">
                <a:solidFill>
                  <a:srgbClr val="2A2A2A"/>
                </a:solidFill>
                <a:latin typeface="Calibri" pitchFamily="34" charset="0"/>
                <a:ea typeface="Calibri" pitchFamily="34" charset="-122"/>
                <a:cs typeface="Calibri" pitchFamily="34" charset="-120"/>
              </a:rPr>
              <a:t>du plan d'action outils 2.2</a:t>
            </a:r>
            <a:endParaRPr lang="en-US" sz="1150" dirty="0"/>
          </a:p>
        </p:txBody>
      </p:sp>
      <p:sp>
        <p:nvSpPr>
          <p:cNvPr id="33" name="Shape 31"/>
          <p:cNvSpPr/>
          <p:nvPr/>
        </p:nvSpPr>
        <p:spPr>
          <a:xfrm>
            <a:off x="1897380" y="4383405"/>
            <a:ext cx="868680" cy="256032"/>
          </a:xfrm>
          <a:prstGeom prst="roundRect">
            <a:avLst>
              <a:gd name="adj" fmla="val 28571"/>
            </a:avLst>
          </a:prstGeom>
          <a:solidFill>
            <a:srgbClr val="8C97A8"/>
          </a:solidFill>
          <a:ln/>
        </p:spPr>
      </p:sp>
      <p:sp>
        <p:nvSpPr>
          <p:cNvPr id="34" name="Text 32"/>
          <p:cNvSpPr txBox="1"/>
          <p:nvPr/>
        </p:nvSpPr>
        <p:spPr>
          <a:xfrm>
            <a:off x="1874520" y="4383405"/>
            <a:ext cx="91440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NON COMMENCÉ</a:t>
            </a:r>
            <a:endParaRPr lang="en-US" sz="800" dirty="0"/>
          </a:p>
        </p:txBody>
      </p:sp>
      <p:sp>
        <p:nvSpPr>
          <p:cNvPr id="35" name="Text 33"/>
          <p:cNvSpPr txBox="1"/>
          <p:nvPr/>
        </p:nvSpPr>
        <p:spPr>
          <a:xfrm>
            <a:off x="1874520" y="4730877"/>
            <a:ext cx="914400" cy="274320"/>
          </a:xfrm>
          <a:prstGeom prst="rect">
            <a:avLst/>
          </a:prstGeom>
          <a:noFill/>
          <a:ln/>
        </p:spPr>
        <p:txBody>
          <a:bodyPr wrap="square" lIns="0" tIns="0" rIns="0" bIns="0" rtlCol="0" anchor="ctr"/>
          <a:lstStyle/>
          <a:p>
            <a:pPr algn="ctr" indent="0" marL="0">
              <a:buNone/>
            </a:pPr>
            <a:r>
              <a:rPr lang="en-US" sz="1300" b="1" dirty="0">
                <a:solidFill>
                  <a:srgbClr val="2E7D32"/>
                </a:solidFill>
                <a:latin typeface="Calibri" pitchFamily="34" charset="0"/>
                <a:ea typeface="Calibri" pitchFamily="34" charset="-122"/>
                <a:cs typeface="Calibri" pitchFamily="34" charset="-120"/>
              </a:rPr>
              <a:t>0%</a:t>
            </a:r>
            <a:endParaRPr lang="en-US" sz="1300" dirty="0"/>
          </a:p>
        </p:txBody>
      </p:sp>
      <p:sp>
        <p:nvSpPr>
          <p:cNvPr id="36" name="Text 34"/>
          <p:cNvSpPr txBox="1"/>
          <p:nvPr/>
        </p:nvSpPr>
        <p:spPr>
          <a:xfrm>
            <a:off x="2880360" y="4155948"/>
            <a:ext cx="3108960" cy="1040130"/>
          </a:xfrm>
          <a:prstGeom prst="rect">
            <a:avLst/>
          </a:prstGeom>
          <a:noFill/>
          <a:ln/>
        </p:spPr>
        <p:txBody>
          <a:bodyPr wrap="square" lIns="0" tIns="0" rIns="0" bIns="0" rtlCol="0" anchor="ctr"/>
          <a:lstStyle/>
          <a:p>
            <a:pPr algn="l" indent="0" marL="0">
              <a:lnSpc>
                <a:spcPct val="105000"/>
              </a:lnSpc>
              <a:buNone/>
            </a:pPr>
            <a:r>
              <a:rPr lang="en-US" sz="900" i="1" dirty="0">
                <a:solidFill>
                  <a:srgbClr val="6B7280"/>
                </a:solidFill>
                <a:latin typeface="Calibri" pitchFamily="34" charset="0"/>
                <a:ea typeface="Calibri" pitchFamily="34" charset="-122"/>
                <a:cs typeface="Calibri" pitchFamily="34" charset="-120"/>
              </a:rPr>
              <a:t>Intégration du workflow 2.2 dans l'architecture de l'outil, avec des liens dynamiques entre les résultats, les validations et la publication finale.</a:t>
            </a:r>
            <a:endParaRPr lang="en-US" sz="900" dirty="0"/>
          </a:p>
        </p:txBody>
      </p:sp>
      <p:sp>
        <p:nvSpPr>
          <p:cNvPr id="37" name="Text 35"/>
          <p:cNvSpPr txBox="1"/>
          <p:nvPr/>
        </p:nvSpPr>
        <p:spPr>
          <a:xfrm>
            <a:off x="6217920" y="4155948"/>
            <a:ext cx="2148840" cy="1040130"/>
          </a:xfrm>
          <a:prstGeom prst="rect">
            <a:avLst/>
          </a:prstGeom>
          <a:noFill/>
          <a:ln/>
        </p:spPr>
        <p:txBody>
          <a:bodyPr wrap="square" lIns="0" tIns="0" rIns="0" bIns="0" rtlCol="0" anchor="ctr"/>
          <a:lstStyle/>
          <a:p>
            <a:pPr algn="l" marL="342900" indent="-342900">
              <a:lnSpc>
                <a:spcPct val="105000"/>
              </a:lnSpc>
              <a:spcAft>
                <a:spcPts val="400"/>
              </a:spcAft>
              <a:buSzPct val="100000"/>
              <a:buChar char="•"/>
            </a:pPr>
            <a:r>
              <a:rPr lang="en-US" sz="950" dirty="0">
                <a:solidFill>
                  <a:srgbClr val="2A2A2A"/>
                </a:solidFill>
                <a:latin typeface="Calibri" pitchFamily="34" charset="0"/>
                <a:ea typeface="Calibri" pitchFamily="34" charset="-122"/>
                <a:cs typeface="Calibri" pitchFamily="34" charset="-120"/>
              </a:rPr>
              <a:t>Lier dynamiquement résultats, validations et publication finale dans l'architecture 2.2</a:t>
            </a:r>
            <a:endParaRPr lang="en-US" sz="950" dirty="0"/>
          </a:p>
        </p:txBody>
      </p:sp>
      <p:sp>
        <p:nvSpPr>
          <p:cNvPr id="38" name="Text 36"/>
          <p:cNvSpPr txBox="1"/>
          <p:nvPr/>
        </p:nvSpPr>
        <p:spPr>
          <a:xfrm>
            <a:off x="8595360" y="4101084"/>
            <a:ext cx="1097280" cy="1149858"/>
          </a:xfrm>
          <a:prstGeom prst="rect">
            <a:avLst/>
          </a:prstGeom>
          <a:noFill/>
          <a:ln/>
        </p:spPr>
        <p:txBody>
          <a:bodyPr wrap="square" lIns="0" tIns="0" rIns="0" bIns="0" rtlCol="0" anchor="ctr"/>
          <a:lstStyle/>
          <a:p>
            <a:pPr algn="ctr" indent="0" marL="0">
              <a:buNone/>
            </a:pPr>
            <a:r>
              <a:rPr lang="en-US" sz="950" dirty="0">
                <a:solidFill>
                  <a:srgbClr val="2A2A2A"/>
                </a:solidFill>
                <a:latin typeface="Calibri" pitchFamily="34" charset="0"/>
                <a:ea typeface="Calibri" pitchFamily="34" charset="-122"/>
                <a:cs typeface="Calibri" pitchFamily="34" charset="-120"/>
              </a:rPr>
              <a:t>30/09/2026</a:t>
            </a:r>
            <a:endParaRPr lang="en-US" sz="950" dirty="0"/>
          </a:p>
        </p:txBody>
      </p:sp>
      <p:sp>
        <p:nvSpPr>
          <p:cNvPr id="39" name="Text 37"/>
          <p:cNvSpPr txBox="1"/>
          <p:nvPr/>
        </p:nvSpPr>
        <p:spPr>
          <a:xfrm>
            <a:off x="9875520" y="4101084"/>
            <a:ext cx="1828800" cy="1149858"/>
          </a:xfrm>
          <a:prstGeom prst="rect">
            <a:avLst/>
          </a:prstGeom>
          <a:noFill/>
          <a:ln/>
        </p:spPr>
        <p:txBody>
          <a:bodyPr wrap="square" lIns="0" tIns="0" rIns="0" bIns="0" rtlCol="0" anchor="ctr"/>
          <a:lstStyle/>
          <a:p>
            <a:pPr algn="ctr" indent="0" marL="0">
              <a:buNone/>
            </a:pPr>
            <a:r>
              <a:rPr lang="en-US" sz="1000" dirty="0">
                <a:solidFill>
                  <a:srgbClr val="2A2A2A"/>
                </a:solidFill>
                <a:latin typeface="Calibri" pitchFamily="34" charset="0"/>
                <a:ea typeface="Calibri" pitchFamily="34" charset="-122"/>
                <a:cs typeface="Calibri" pitchFamily="34" charset="-120"/>
              </a:rPr>
              <a:t>A.F / B.A.T</a:t>
            </a:r>
            <a:endParaRPr lang="en-US" sz="1000" dirty="0"/>
          </a:p>
          <a:p>
            <a:pPr algn="ctr" indent="0" marL="0">
              <a:buNone/>
            </a:pPr>
            <a:r>
              <a:rPr lang="en-US" sz="1000" dirty="0">
                <a:solidFill>
                  <a:srgbClr val="2A2A2A"/>
                </a:solidFill>
                <a:latin typeface="Calibri" pitchFamily="34" charset="0"/>
                <a:ea typeface="Calibri" pitchFamily="34" charset="-122"/>
                <a:cs typeface="Calibri" pitchFamily="34" charset="-120"/>
              </a:rPr>
              <a:t>B.B / B.A</a:t>
            </a:r>
            <a:endParaRPr lang="en-US" sz="1000" dirty="0"/>
          </a:p>
        </p:txBody>
      </p:sp>
      <p:sp>
        <p:nvSpPr>
          <p:cNvPr id="40" name="Shape 38"/>
          <p:cNvSpPr/>
          <p:nvPr/>
        </p:nvSpPr>
        <p:spPr>
          <a:xfrm>
            <a:off x="365760" y="5250942"/>
            <a:ext cx="11460175" cy="1149858"/>
          </a:xfrm>
          <a:prstGeom prst="rect">
            <a:avLst/>
          </a:prstGeom>
          <a:solidFill>
            <a:srgbClr val="F3F6F8"/>
          </a:solidFill>
          <a:ln w="9525">
            <a:solidFill>
              <a:srgbClr val="E3E7EC"/>
            </a:solidFill>
            <a:prstDash val="solid"/>
          </a:ln>
        </p:spPr>
      </p:sp>
      <p:sp>
        <p:nvSpPr>
          <p:cNvPr id="41" name="Text 39"/>
          <p:cNvSpPr txBox="1"/>
          <p:nvPr/>
        </p:nvSpPr>
        <p:spPr>
          <a:xfrm>
            <a:off x="457200" y="5250942"/>
            <a:ext cx="1280160" cy="1149858"/>
          </a:xfrm>
          <a:prstGeom prst="rect">
            <a:avLst/>
          </a:prstGeom>
          <a:noFill/>
          <a:ln/>
        </p:spPr>
        <p:txBody>
          <a:bodyPr wrap="square" lIns="0" tIns="0" rIns="0" bIns="0" rtlCol="0" anchor="ctr"/>
          <a:lstStyle/>
          <a:p>
            <a:pPr algn="l" indent="0" marL="0">
              <a:buNone/>
            </a:pPr>
            <a:r>
              <a:rPr lang="en-US" sz="1150" b="1" dirty="0">
                <a:solidFill>
                  <a:srgbClr val="2A2A2A"/>
                </a:solidFill>
                <a:latin typeface="Calibri" pitchFamily="34" charset="0"/>
                <a:ea typeface="Calibri" pitchFamily="34" charset="-122"/>
                <a:cs typeface="Calibri" pitchFamily="34" charset="-120"/>
              </a:rPr>
              <a:t>Contrôles automatisés</a:t>
            </a:r>
            <a:endParaRPr lang="en-US" sz="1150" dirty="0"/>
          </a:p>
        </p:txBody>
      </p:sp>
      <p:sp>
        <p:nvSpPr>
          <p:cNvPr id="42" name="Shape 40"/>
          <p:cNvSpPr/>
          <p:nvPr/>
        </p:nvSpPr>
        <p:spPr>
          <a:xfrm>
            <a:off x="1897380" y="5533263"/>
            <a:ext cx="868680" cy="256032"/>
          </a:xfrm>
          <a:prstGeom prst="roundRect">
            <a:avLst>
              <a:gd name="adj" fmla="val 28571"/>
            </a:avLst>
          </a:prstGeom>
          <a:solidFill>
            <a:srgbClr val="8C97A8"/>
          </a:solidFill>
          <a:ln/>
        </p:spPr>
      </p:sp>
      <p:sp>
        <p:nvSpPr>
          <p:cNvPr id="43" name="Text 41"/>
          <p:cNvSpPr txBox="1"/>
          <p:nvPr/>
        </p:nvSpPr>
        <p:spPr>
          <a:xfrm>
            <a:off x="1874520" y="5533263"/>
            <a:ext cx="91440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NON COMMENCÉ</a:t>
            </a:r>
            <a:endParaRPr lang="en-US" sz="800" dirty="0"/>
          </a:p>
        </p:txBody>
      </p:sp>
      <p:sp>
        <p:nvSpPr>
          <p:cNvPr id="44" name="Text 42"/>
          <p:cNvSpPr txBox="1"/>
          <p:nvPr/>
        </p:nvSpPr>
        <p:spPr>
          <a:xfrm>
            <a:off x="1874520" y="5880735"/>
            <a:ext cx="914400" cy="274320"/>
          </a:xfrm>
          <a:prstGeom prst="rect">
            <a:avLst/>
          </a:prstGeom>
          <a:noFill/>
          <a:ln/>
        </p:spPr>
        <p:txBody>
          <a:bodyPr wrap="square" lIns="0" tIns="0" rIns="0" bIns="0" rtlCol="0" anchor="ctr"/>
          <a:lstStyle/>
          <a:p>
            <a:pPr algn="ctr" indent="0" marL="0">
              <a:buNone/>
            </a:pPr>
            <a:r>
              <a:rPr lang="en-US" sz="1300" b="1" dirty="0">
                <a:solidFill>
                  <a:srgbClr val="2E7D32"/>
                </a:solidFill>
                <a:latin typeface="Calibri" pitchFamily="34" charset="0"/>
                <a:ea typeface="Calibri" pitchFamily="34" charset="-122"/>
                <a:cs typeface="Calibri" pitchFamily="34" charset="-120"/>
              </a:rPr>
              <a:t>0%</a:t>
            </a:r>
            <a:endParaRPr lang="en-US" sz="1300" dirty="0"/>
          </a:p>
        </p:txBody>
      </p:sp>
      <p:sp>
        <p:nvSpPr>
          <p:cNvPr id="45" name="Text 43"/>
          <p:cNvSpPr txBox="1"/>
          <p:nvPr/>
        </p:nvSpPr>
        <p:spPr>
          <a:xfrm>
            <a:off x="2880360" y="5305806"/>
            <a:ext cx="3108960" cy="1040130"/>
          </a:xfrm>
          <a:prstGeom prst="rect">
            <a:avLst/>
          </a:prstGeom>
          <a:noFill/>
          <a:ln/>
        </p:spPr>
        <p:txBody>
          <a:bodyPr wrap="square" lIns="0" tIns="0" rIns="0" bIns="0" rtlCol="0" anchor="ctr"/>
          <a:lstStyle/>
          <a:p>
            <a:pPr algn="l" indent="0" marL="0">
              <a:lnSpc>
                <a:spcPct val="105000"/>
              </a:lnSpc>
              <a:buNone/>
            </a:pPr>
            <a:r>
              <a:rPr lang="en-US" sz="900" i="1" dirty="0">
                <a:solidFill>
                  <a:srgbClr val="6B7280"/>
                </a:solidFill>
                <a:latin typeface="Calibri" pitchFamily="34" charset="0"/>
                <a:ea typeface="Calibri" pitchFamily="34" charset="-122"/>
                <a:cs typeface="Calibri" pitchFamily="34" charset="-120"/>
              </a:rPr>
              <a:t>Intégration dans le workflow 2.2 des contrôles permanents automatisés trimestriels. Possible intégration de nouveaux contrôles au T4-2026. À définir avec Thomas Davo et Agnès Buffet.</a:t>
            </a:r>
            <a:endParaRPr lang="en-US" sz="900" dirty="0"/>
          </a:p>
        </p:txBody>
      </p:sp>
      <p:sp>
        <p:nvSpPr>
          <p:cNvPr id="46" name="Text 44"/>
          <p:cNvSpPr txBox="1"/>
          <p:nvPr/>
        </p:nvSpPr>
        <p:spPr>
          <a:xfrm>
            <a:off x="6217920" y="5305806"/>
            <a:ext cx="2148840" cy="1040130"/>
          </a:xfrm>
          <a:prstGeom prst="rect">
            <a:avLst/>
          </a:prstGeom>
          <a:noFill/>
          <a:ln/>
        </p:spPr>
        <p:txBody>
          <a:bodyPr wrap="square" lIns="0" tIns="0" rIns="0" bIns="0" rtlCol="0" anchor="ctr"/>
          <a:lstStyle/>
          <a:p>
            <a:pPr algn="l" marL="342900" indent="-342900">
              <a:lnSpc>
                <a:spcPct val="105000"/>
              </a:lnSpc>
              <a:spcAft>
                <a:spcPts val="400"/>
              </a:spcAft>
              <a:buSzPct val="100000"/>
              <a:buChar char="•"/>
            </a:pPr>
            <a:r>
              <a:rPr lang="en-US" sz="950" dirty="0">
                <a:solidFill>
                  <a:srgbClr val="2A2A2A"/>
                </a:solidFill>
                <a:latin typeface="Calibri" pitchFamily="34" charset="0"/>
                <a:ea typeface="Calibri" pitchFamily="34" charset="-122"/>
                <a:cs typeface="Calibri" pitchFamily="34" charset="-120"/>
              </a:rPr>
              <a:t>Intégrer les contrôles permanents automatisés trimestriels au workflow 2.2</a:t>
            </a:r>
            <a:endParaRPr lang="en-US" sz="950" dirty="0"/>
          </a:p>
          <a:p>
            <a:pPr algn="l" marL="342900" indent="-342900">
              <a:lnSpc>
                <a:spcPct val="105000"/>
              </a:lnSpc>
              <a:spcAft>
                <a:spcPts val="400"/>
              </a:spcAft>
              <a:buSzPct val="100000"/>
              <a:buChar char="•"/>
            </a:pPr>
            <a:r>
              <a:rPr lang="en-US" sz="950" dirty="0">
                <a:solidFill>
                  <a:srgbClr val="2A2A2A"/>
                </a:solidFill>
                <a:latin typeface="Calibri" pitchFamily="34" charset="0"/>
                <a:ea typeface="Calibri" pitchFamily="34" charset="-122"/>
                <a:cs typeface="Calibri" pitchFamily="34" charset="-120"/>
              </a:rPr>
              <a:t>Cadrer les nouveaux contrôles T4-2026 avec T. Davo et A. Buffet</a:t>
            </a:r>
            <a:endParaRPr lang="en-US" sz="950" dirty="0"/>
          </a:p>
        </p:txBody>
      </p:sp>
      <p:sp>
        <p:nvSpPr>
          <p:cNvPr id="47" name="Text 45"/>
          <p:cNvSpPr txBox="1"/>
          <p:nvPr/>
        </p:nvSpPr>
        <p:spPr>
          <a:xfrm>
            <a:off x="8595360" y="5250942"/>
            <a:ext cx="1097280" cy="1149858"/>
          </a:xfrm>
          <a:prstGeom prst="rect">
            <a:avLst/>
          </a:prstGeom>
          <a:noFill/>
          <a:ln/>
        </p:spPr>
        <p:txBody>
          <a:bodyPr wrap="square" lIns="0" tIns="0" rIns="0" bIns="0" rtlCol="0" anchor="ctr"/>
          <a:lstStyle/>
          <a:p>
            <a:pPr algn="ctr" indent="0" marL="0">
              <a:buNone/>
            </a:pPr>
            <a:r>
              <a:rPr lang="en-US" sz="950" dirty="0">
                <a:solidFill>
                  <a:srgbClr val="2A2A2A"/>
                </a:solidFill>
                <a:latin typeface="Calibri" pitchFamily="34" charset="0"/>
                <a:ea typeface="Calibri" pitchFamily="34" charset="-122"/>
                <a:cs typeface="Calibri" pitchFamily="34" charset="-120"/>
              </a:rPr>
              <a:t>À définir</a:t>
            </a:r>
            <a:endParaRPr lang="en-US" sz="950" dirty="0"/>
          </a:p>
        </p:txBody>
      </p:sp>
      <p:sp>
        <p:nvSpPr>
          <p:cNvPr id="48" name="Text 46"/>
          <p:cNvSpPr txBox="1"/>
          <p:nvPr/>
        </p:nvSpPr>
        <p:spPr>
          <a:xfrm>
            <a:off x="9875520" y="5250942"/>
            <a:ext cx="1828800" cy="1149858"/>
          </a:xfrm>
          <a:prstGeom prst="rect">
            <a:avLst/>
          </a:prstGeom>
          <a:noFill/>
          <a:ln/>
        </p:spPr>
        <p:txBody>
          <a:bodyPr wrap="square" lIns="0" tIns="0" rIns="0" bIns="0" rtlCol="0" anchor="ctr"/>
          <a:lstStyle/>
          <a:p>
            <a:pPr algn="ctr" indent="0" marL="0">
              <a:buNone/>
            </a:pPr>
            <a:r>
              <a:rPr lang="en-US" sz="1000" dirty="0">
                <a:solidFill>
                  <a:srgbClr val="2A2A2A"/>
                </a:solidFill>
                <a:latin typeface="Calibri" pitchFamily="34" charset="0"/>
                <a:ea typeface="Calibri" pitchFamily="34" charset="-122"/>
                <a:cs typeface="Calibri" pitchFamily="34" charset="-120"/>
              </a:rPr>
              <a:t>P.J / B.A.T</a:t>
            </a:r>
            <a:endParaRPr lang="en-US" sz="1000" dirty="0"/>
          </a:p>
        </p:txBody>
      </p:sp>
      <p:sp>
        <p:nvSpPr>
          <p:cNvPr id="49" name="Text 47"/>
          <p:cNvSpPr txBox="1"/>
          <p:nvPr/>
        </p:nvSpPr>
        <p:spPr>
          <a:xfrm>
            <a:off x="365760" y="6446520"/>
            <a:ext cx="7315200" cy="274320"/>
          </a:xfrm>
          <a:prstGeom prst="rect">
            <a:avLst/>
          </a:prstGeom>
          <a:noFill/>
          <a:ln/>
        </p:spPr>
        <p:txBody>
          <a:bodyPr wrap="square" lIns="0" tIns="0" rIns="0" bIns="0" rtlCol="0" anchor="ctr"/>
          <a:lstStyle/>
          <a:p>
            <a:pPr indent="0" marL="0">
              <a:buNone/>
            </a:pPr>
            <a:r>
              <a:rPr lang="en-US" sz="950" b="1" dirty="0">
                <a:solidFill>
                  <a:srgbClr val="6B7280"/>
                </a:solidFill>
                <a:latin typeface="Calibri" pitchFamily="34" charset="0"/>
                <a:ea typeface="Calibri" pitchFamily="34" charset="-122"/>
                <a:cs typeface="Calibri" pitchFamily="34" charset="-120"/>
              </a:rPr>
              <a:t>Statut :  </a:t>
            </a:r>
            <a:pPr indent="0" marL="0">
              <a:buNone/>
            </a:pPr>
            <a:r>
              <a:rPr lang="en-US" sz="950" b="1" dirty="0">
                <a:solidFill>
                  <a:srgbClr val="D97D4A"/>
                </a:solidFill>
                <a:latin typeface="Calibri" pitchFamily="34" charset="0"/>
                <a:ea typeface="Calibri" pitchFamily="34" charset="-122"/>
                <a:cs typeface="Calibri" pitchFamily="34" charset="-120"/>
              </a:rPr>
              <a:t>Orange = En cours   </a:t>
            </a:r>
            <a:pPr indent="0" marL="0">
              <a:buNone/>
            </a:pPr>
            <a:r>
              <a:rPr lang="en-US" sz="950" b="1" dirty="0">
                <a:solidFill>
                  <a:srgbClr val="8C97A8"/>
                </a:solidFill>
                <a:latin typeface="Calibri" pitchFamily="34" charset="0"/>
                <a:ea typeface="Calibri" pitchFamily="34" charset="-122"/>
                <a:cs typeface="Calibri" pitchFamily="34" charset="-120"/>
              </a:rPr>
              <a:t>Gris = Non commencé</a:t>
            </a:r>
            <a:endParaRPr lang="en-US" sz="950" dirty="0"/>
          </a:p>
        </p:txBody>
      </p:sp>
      <p:sp>
        <p:nvSpPr>
          <p:cNvPr id="50" name="Text 48"/>
          <p:cNvSpPr txBox="1"/>
          <p:nvPr/>
        </p:nvSpPr>
        <p:spPr>
          <a:xfrm>
            <a:off x="7680960" y="6446520"/>
            <a:ext cx="4144975"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Mise à jour : 02/09/2026</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1B2A56"/>
          </a:solidFill>
          <a:ln/>
        </p:spPr>
      </p:sp>
      <p:sp>
        <p:nvSpPr>
          <p:cNvPr id="3" name="Text 1"/>
          <p:cNvSpPr txBox="1"/>
          <p:nvPr/>
        </p:nvSpPr>
        <p:spPr>
          <a:xfrm>
            <a:off x="365760" y="146304"/>
            <a:ext cx="11460175"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TABLEAU DE BORD – SUIVI DES PROJETS</a:t>
            </a:r>
            <a:endParaRPr lang="en-US" sz="2600" dirty="0"/>
          </a:p>
        </p:txBody>
      </p:sp>
      <p:sp>
        <p:nvSpPr>
          <p:cNvPr id="4" name="Text 2"/>
          <p:cNvSpPr txBox="1"/>
          <p:nvPr/>
        </p:nvSpPr>
        <p:spPr>
          <a:xfrm>
            <a:off x="365760" y="621792"/>
            <a:ext cx="10728655" cy="320040"/>
          </a:xfrm>
          <a:prstGeom prst="rect">
            <a:avLst/>
          </a:prstGeom>
          <a:noFill/>
          <a:ln/>
        </p:spPr>
        <p:txBody>
          <a:bodyPr wrap="square" lIns="0" tIns="0" rIns="0" bIns="0"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Requêtes</a:t>
            </a:r>
            <a:endParaRPr lang="en-US" sz="1300" dirty="0"/>
          </a:p>
        </p:txBody>
      </p:sp>
      <p:sp>
        <p:nvSpPr>
          <p:cNvPr id="5" name="Text 3"/>
          <p:cNvSpPr txBox="1"/>
          <p:nvPr/>
        </p:nvSpPr>
        <p:spPr>
          <a:xfrm>
            <a:off x="11094415" y="621792"/>
            <a:ext cx="731520" cy="320040"/>
          </a:xfrm>
          <a:prstGeom prst="rect">
            <a:avLst/>
          </a:prstGeom>
          <a:noFill/>
          <a:ln/>
        </p:spPr>
        <p:txBody>
          <a:bodyPr wrap="square" lIns="0" tIns="0" rIns="0" bIns="0" rtlCol="0" anchor="ctr"/>
          <a:lstStyle/>
          <a:p>
            <a:pPr algn="r" indent="0" marL="0">
              <a:buNone/>
            </a:pPr>
            <a:r>
              <a:rPr lang="en-US" sz="1100" dirty="0">
                <a:solidFill>
                  <a:srgbClr val="CADCFC"/>
                </a:solidFill>
                <a:latin typeface="Calibri" pitchFamily="34" charset="0"/>
                <a:ea typeface="Calibri" pitchFamily="34" charset="-122"/>
                <a:cs typeface="Calibri" pitchFamily="34" charset="-120"/>
              </a:rPr>
              <a:t>3 / 3</a:t>
            </a:r>
            <a:endParaRPr lang="en-US" sz="1100" dirty="0"/>
          </a:p>
        </p:txBody>
      </p:sp>
      <p:sp>
        <p:nvSpPr>
          <p:cNvPr id="6" name="Shape 4"/>
          <p:cNvSpPr/>
          <p:nvPr/>
        </p:nvSpPr>
        <p:spPr>
          <a:xfrm>
            <a:off x="365760" y="1417320"/>
            <a:ext cx="11460175" cy="384048"/>
          </a:xfrm>
          <a:prstGeom prst="rect">
            <a:avLst/>
          </a:prstGeom>
          <a:solidFill>
            <a:srgbClr val="0F7173"/>
          </a:solidFill>
          <a:ln/>
        </p:spPr>
      </p:sp>
      <p:sp>
        <p:nvSpPr>
          <p:cNvPr id="7" name="Text 5"/>
          <p:cNvSpPr txBox="1"/>
          <p:nvPr/>
        </p:nvSpPr>
        <p:spPr>
          <a:xfrm>
            <a:off x="365760" y="1417320"/>
            <a:ext cx="146304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NOM PROJET</a:t>
            </a:r>
            <a:endParaRPr lang="en-US" sz="1050" dirty="0"/>
          </a:p>
        </p:txBody>
      </p:sp>
      <p:sp>
        <p:nvSpPr>
          <p:cNvPr id="8" name="Text 6"/>
          <p:cNvSpPr txBox="1"/>
          <p:nvPr/>
        </p:nvSpPr>
        <p:spPr>
          <a:xfrm>
            <a:off x="1874520" y="1417320"/>
            <a:ext cx="91440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STATUT</a:t>
            </a:r>
            <a:endParaRPr lang="en-US" sz="1050" dirty="0"/>
          </a:p>
        </p:txBody>
      </p:sp>
      <p:sp>
        <p:nvSpPr>
          <p:cNvPr id="9" name="Text 7"/>
          <p:cNvSpPr txBox="1"/>
          <p:nvPr/>
        </p:nvSpPr>
        <p:spPr>
          <a:xfrm>
            <a:off x="2880360" y="1417320"/>
            <a:ext cx="3246120" cy="384048"/>
          </a:xfrm>
          <a:prstGeom prst="rect">
            <a:avLst/>
          </a:prstGeom>
          <a:noFill/>
          <a:ln/>
        </p:spPr>
        <p:txBody>
          <a:bodyPr wrap="square" lIns="0" tIns="12700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DESCRIPTION</a:t>
            </a:r>
            <a:endParaRPr lang="en-US" sz="1050" dirty="0"/>
          </a:p>
        </p:txBody>
      </p:sp>
      <p:sp>
        <p:nvSpPr>
          <p:cNvPr id="10" name="Text 8"/>
          <p:cNvSpPr txBox="1"/>
          <p:nvPr/>
        </p:nvSpPr>
        <p:spPr>
          <a:xfrm>
            <a:off x="6217920" y="1417320"/>
            <a:ext cx="2286000" cy="384048"/>
          </a:xfrm>
          <a:prstGeom prst="rect">
            <a:avLst/>
          </a:prstGeom>
          <a:noFill/>
          <a:ln/>
        </p:spPr>
        <p:txBody>
          <a:bodyPr wrap="square" lIns="0" tIns="12700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À FAIRE</a:t>
            </a:r>
            <a:endParaRPr lang="en-US" sz="1050" dirty="0"/>
          </a:p>
        </p:txBody>
      </p:sp>
      <p:sp>
        <p:nvSpPr>
          <p:cNvPr id="11" name="Text 9"/>
          <p:cNvSpPr txBox="1"/>
          <p:nvPr/>
        </p:nvSpPr>
        <p:spPr>
          <a:xfrm>
            <a:off x="8595360" y="1417320"/>
            <a:ext cx="118872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ÉCHÉANCE</a:t>
            </a:r>
            <a:endParaRPr lang="en-US" sz="1050" dirty="0"/>
          </a:p>
        </p:txBody>
      </p:sp>
      <p:sp>
        <p:nvSpPr>
          <p:cNvPr id="12" name="Text 10"/>
          <p:cNvSpPr txBox="1"/>
          <p:nvPr/>
        </p:nvSpPr>
        <p:spPr>
          <a:xfrm>
            <a:off x="9875520" y="1417320"/>
            <a:ext cx="192024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RESPONSABLE</a:t>
            </a:r>
            <a:endParaRPr lang="en-US" sz="1050" dirty="0"/>
          </a:p>
        </p:txBody>
      </p:sp>
      <p:sp>
        <p:nvSpPr>
          <p:cNvPr id="13" name="Shape 11"/>
          <p:cNvSpPr/>
          <p:nvPr/>
        </p:nvSpPr>
        <p:spPr>
          <a:xfrm>
            <a:off x="365760" y="1801368"/>
            <a:ext cx="11460175" cy="1554480"/>
          </a:xfrm>
          <a:prstGeom prst="rect">
            <a:avLst/>
          </a:prstGeom>
          <a:solidFill>
            <a:srgbClr val="FFFFFF"/>
          </a:solidFill>
          <a:ln w="9525">
            <a:solidFill>
              <a:srgbClr val="E3E7EC"/>
            </a:solidFill>
            <a:prstDash val="solid"/>
          </a:ln>
        </p:spPr>
      </p:sp>
      <p:sp>
        <p:nvSpPr>
          <p:cNvPr id="14" name="Text 12"/>
          <p:cNvSpPr txBox="1"/>
          <p:nvPr/>
        </p:nvSpPr>
        <p:spPr>
          <a:xfrm>
            <a:off x="457200" y="1801368"/>
            <a:ext cx="1280160" cy="1554480"/>
          </a:xfrm>
          <a:prstGeom prst="rect">
            <a:avLst/>
          </a:prstGeom>
          <a:noFill/>
          <a:ln/>
        </p:spPr>
        <p:txBody>
          <a:bodyPr wrap="square" lIns="0" tIns="0" rIns="0" bIns="0" rtlCol="0" anchor="ctr"/>
          <a:lstStyle/>
          <a:p>
            <a:pPr algn="l" indent="0" marL="0">
              <a:buNone/>
            </a:pPr>
            <a:r>
              <a:rPr lang="en-US" sz="1150" b="1" dirty="0">
                <a:solidFill>
                  <a:srgbClr val="2A2A2A"/>
                </a:solidFill>
                <a:latin typeface="Calibri" pitchFamily="34" charset="0"/>
                <a:ea typeface="Calibri" pitchFamily="34" charset="-122"/>
                <a:cs typeface="Calibri" pitchFamily="34" charset="-120"/>
              </a:rPr>
              <a:t>Requêtes CPN2 RCC</a:t>
            </a:r>
            <a:endParaRPr lang="en-US" sz="1150" dirty="0"/>
          </a:p>
        </p:txBody>
      </p:sp>
      <p:sp>
        <p:nvSpPr>
          <p:cNvPr id="15" name="Shape 13"/>
          <p:cNvSpPr/>
          <p:nvPr/>
        </p:nvSpPr>
        <p:spPr>
          <a:xfrm>
            <a:off x="1897380" y="2286000"/>
            <a:ext cx="868680" cy="256032"/>
          </a:xfrm>
          <a:prstGeom prst="roundRect">
            <a:avLst>
              <a:gd name="adj" fmla="val 28571"/>
            </a:avLst>
          </a:prstGeom>
          <a:solidFill>
            <a:srgbClr val="8C97A8"/>
          </a:solidFill>
          <a:ln/>
        </p:spPr>
      </p:sp>
      <p:sp>
        <p:nvSpPr>
          <p:cNvPr id="16" name="Text 14"/>
          <p:cNvSpPr txBox="1"/>
          <p:nvPr/>
        </p:nvSpPr>
        <p:spPr>
          <a:xfrm>
            <a:off x="1874520" y="2286000"/>
            <a:ext cx="91440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NON COMMENCÉ</a:t>
            </a:r>
            <a:endParaRPr lang="en-US" sz="800" dirty="0"/>
          </a:p>
        </p:txBody>
      </p:sp>
      <p:sp>
        <p:nvSpPr>
          <p:cNvPr id="17" name="Text 15"/>
          <p:cNvSpPr txBox="1"/>
          <p:nvPr/>
        </p:nvSpPr>
        <p:spPr>
          <a:xfrm>
            <a:off x="1874520" y="2633472"/>
            <a:ext cx="914400" cy="274320"/>
          </a:xfrm>
          <a:prstGeom prst="rect">
            <a:avLst/>
          </a:prstGeom>
          <a:noFill/>
          <a:ln/>
        </p:spPr>
        <p:txBody>
          <a:bodyPr wrap="square" lIns="0" tIns="0" rIns="0" bIns="0" rtlCol="0" anchor="ctr"/>
          <a:lstStyle/>
          <a:p>
            <a:pPr algn="ctr" indent="0" marL="0">
              <a:buNone/>
            </a:pPr>
            <a:r>
              <a:rPr lang="en-US" sz="1300" b="1" dirty="0">
                <a:solidFill>
                  <a:srgbClr val="2E7D32"/>
                </a:solidFill>
                <a:latin typeface="Calibri" pitchFamily="34" charset="0"/>
                <a:ea typeface="Calibri" pitchFamily="34" charset="-122"/>
                <a:cs typeface="Calibri" pitchFamily="34" charset="-120"/>
              </a:rPr>
              <a:t>0%</a:t>
            </a:r>
            <a:endParaRPr lang="en-US" sz="1300" dirty="0"/>
          </a:p>
        </p:txBody>
      </p:sp>
      <p:sp>
        <p:nvSpPr>
          <p:cNvPr id="18" name="Text 16"/>
          <p:cNvSpPr txBox="1"/>
          <p:nvPr/>
        </p:nvSpPr>
        <p:spPr>
          <a:xfrm>
            <a:off x="2880360" y="1856232"/>
            <a:ext cx="3108960" cy="1444752"/>
          </a:xfrm>
          <a:prstGeom prst="rect">
            <a:avLst/>
          </a:prstGeom>
          <a:noFill/>
          <a:ln/>
        </p:spPr>
        <p:txBody>
          <a:bodyPr wrap="square" lIns="0" tIns="0" rIns="0" bIns="0" rtlCol="0" anchor="ctr"/>
          <a:lstStyle/>
          <a:p>
            <a:pPr algn="l" indent="0" marL="0">
              <a:lnSpc>
                <a:spcPct val="105000"/>
              </a:lnSpc>
              <a:buNone/>
            </a:pPr>
            <a:r>
              <a:rPr lang="en-US" sz="900" i="1" dirty="0">
                <a:solidFill>
                  <a:srgbClr val="6B7280"/>
                </a:solidFill>
                <a:latin typeface="Calibri" pitchFamily="34" charset="0"/>
                <a:ea typeface="Calibri" pitchFamily="34" charset="-122"/>
                <a:cs typeface="Calibri" pitchFamily="34" charset="-120"/>
              </a:rPr>
              <a:t>Automatisation garanties / Crédits Immo.</a:t>
            </a:r>
            <a:endParaRPr lang="en-US" sz="900" dirty="0"/>
          </a:p>
        </p:txBody>
      </p:sp>
      <p:sp>
        <p:nvSpPr>
          <p:cNvPr id="19" name="Text 17"/>
          <p:cNvSpPr txBox="1"/>
          <p:nvPr/>
        </p:nvSpPr>
        <p:spPr>
          <a:xfrm>
            <a:off x="6217920" y="1856232"/>
            <a:ext cx="2148840" cy="1444752"/>
          </a:xfrm>
          <a:prstGeom prst="rect">
            <a:avLst/>
          </a:prstGeom>
          <a:noFill/>
          <a:ln/>
        </p:spPr>
        <p:txBody>
          <a:bodyPr wrap="square" lIns="0" tIns="0" rIns="0" bIns="0" rtlCol="0" anchor="ctr"/>
          <a:lstStyle/>
          <a:p>
            <a:pPr algn="l" marL="342900" indent="-342900">
              <a:lnSpc>
                <a:spcPct val="105000"/>
              </a:lnSpc>
              <a:spcAft>
                <a:spcPts val="400"/>
              </a:spcAft>
              <a:buSzPct val="100000"/>
              <a:buChar char="•"/>
            </a:pPr>
            <a:r>
              <a:rPr lang="en-US" sz="950" dirty="0">
                <a:solidFill>
                  <a:srgbClr val="2A2A2A"/>
                </a:solidFill>
                <a:latin typeface="Calibri" pitchFamily="34" charset="0"/>
                <a:ea typeface="Calibri" pitchFamily="34" charset="-122"/>
                <a:cs typeface="Calibri" pitchFamily="34" charset="-120"/>
              </a:rPr>
              <a:t>Automatisation garanties / Crédits Immo</a:t>
            </a:r>
            <a:endParaRPr lang="en-US" sz="950" dirty="0"/>
          </a:p>
        </p:txBody>
      </p:sp>
      <p:sp>
        <p:nvSpPr>
          <p:cNvPr id="20" name="Text 18"/>
          <p:cNvSpPr txBox="1"/>
          <p:nvPr/>
        </p:nvSpPr>
        <p:spPr>
          <a:xfrm>
            <a:off x="8595360" y="1801368"/>
            <a:ext cx="1097280" cy="1554480"/>
          </a:xfrm>
          <a:prstGeom prst="rect">
            <a:avLst/>
          </a:prstGeom>
          <a:noFill/>
          <a:ln/>
        </p:spPr>
        <p:txBody>
          <a:bodyPr wrap="square" lIns="0" tIns="0" rIns="0" bIns="0" rtlCol="0" anchor="ctr"/>
          <a:lstStyle/>
          <a:p>
            <a:pPr algn="ctr" indent="0" marL="0">
              <a:buNone/>
            </a:pPr>
            <a:r>
              <a:rPr lang="en-US" sz="950" dirty="0">
                <a:solidFill>
                  <a:srgbClr val="2A2A2A"/>
                </a:solidFill>
                <a:latin typeface="Calibri" pitchFamily="34" charset="0"/>
                <a:ea typeface="Calibri" pitchFamily="34" charset="-122"/>
                <a:cs typeface="Calibri" pitchFamily="34" charset="-120"/>
              </a:rPr>
              <a:t>—</a:t>
            </a:r>
            <a:endParaRPr lang="en-US" sz="950" dirty="0"/>
          </a:p>
        </p:txBody>
      </p:sp>
      <p:sp>
        <p:nvSpPr>
          <p:cNvPr id="21" name="Text 19"/>
          <p:cNvSpPr txBox="1"/>
          <p:nvPr/>
        </p:nvSpPr>
        <p:spPr>
          <a:xfrm>
            <a:off x="9875520" y="1801368"/>
            <a:ext cx="1828800" cy="1554480"/>
          </a:xfrm>
          <a:prstGeom prst="rect">
            <a:avLst/>
          </a:prstGeom>
          <a:noFill/>
          <a:ln/>
        </p:spPr>
        <p:txBody>
          <a:bodyPr wrap="square" lIns="0" tIns="0" rIns="0" bIns="0" rtlCol="0" anchor="ctr"/>
          <a:lstStyle/>
          <a:p>
            <a:pPr algn="ctr" indent="0" marL="0">
              <a:buNone/>
            </a:pPr>
            <a:r>
              <a:rPr lang="en-US" sz="1000" dirty="0">
                <a:solidFill>
                  <a:srgbClr val="2A2A2A"/>
                </a:solidFill>
                <a:latin typeface="Calibri" pitchFamily="34" charset="0"/>
                <a:ea typeface="Calibri" pitchFamily="34" charset="-122"/>
                <a:cs typeface="Calibri" pitchFamily="34" charset="-120"/>
              </a:rPr>
              <a:t>—</a:t>
            </a:r>
            <a:endParaRPr lang="en-US" sz="1000" dirty="0"/>
          </a:p>
        </p:txBody>
      </p:sp>
      <p:sp>
        <p:nvSpPr>
          <p:cNvPr id="22" name="Shape 20"/>
          <p:cNvSpPr/>
          <p:nvPr/>
        </p:nvSpPr>
        <p:spPr>
          <a:xfrm>
            <a:off x="365760" y="3355848"/>
            <a:ext cx="11460175" cy="1554480"/>
          </a:xfrm>
          <a:prstGeom prst="rect">
            <a:avLst/>
          </a:prstGeom>
          <a:solidFill>
            <a:srgbClr val="F3F6F8"/>
          </a:solidFill>
          <a:ln w="9525">
            <a:solidFill>
              <a:srgbClr val="E3E7EC"/>
            </a:solidFill>
            <a:prstDash val="solid"/>
          </a:ln>
        </p:spPr>
      </p:sp>
      <p:sp>
        <p:nvSpPr>
          <p:cNvPr id="23" name="Text 21"/>
          <p:cNvSpPr txBox="1"/>
          <p:nvPr/>
        </p:nvSpPr>
        <p:spPr>
          <a:xfrm>
            <a:off x="457200" y="3355848"/>
            <a:ext cx="1280160" cy="1554480"/>
          </a:xfrm>
          <a:prstGeom prst="rect">
            <a:avLst/>
          </a:prstGeom>
          <a:noFill/>
          <a:ln/>
        </p:spPr>
        <p:txBody>
          <a:bodyPr wrap="square" lIns="0" tIns="0" rIns="0" bIns="0" rtlCol="0" anchor="ctr"/>
          <a:lstStyle/>
          <a:p>
            <a:pPr algn="l" indent="0" marL="0">
              <a:buNone/>
            </a:pPr>
            <a:r>
              <a:rPr lang="en-US" sz="1150" b="1" dirty="0">
                <a:solidFill>
                  <a:srgbClr val="2A2A2A"/>
                </a:solidFill>
                <a:latin typeface="Calibri" pitchFamily="34" charset="0"/>
                <a:ea typeface="Calibri" pitchFamily="34" charset="-122"/>
                <a:cs typeface="Calibri" pitchFamily="34" charset="-120"/>
              </a:rPr>
              <a:t>CPN1 &amp; 2 — T3 2026</a:t>
            </a:r>
            <a:endParaRPr lang="en-US" sz="1150" dirty="0"/>
          </a:p>
          <a:p>
            <a:pPr algn="l" indent="0" marL="0">
              <a:buNone/>
            </a:pPr>
            <a:r>
              <a:rPr lang="en-US" sz="1150" b="1" dirty="0">
                <a:solidFill>
                  <a:srgbClr val="2A2A2A"/>
                </a:solidFill>
                <a:latin typeface="Calibri" pitchFamily="34" charset="0"/>
                <a:ea typeface="Calibri" pitchFamily="34" charset="-122"/>
                <a:cs typeface="Calibri" pitchFamily="34" charset="-120"/>
              </a:rPr>
              <a:t>nouveaux contrôles</a:t>
            </a:r>
            <a:endParaRPr lang="en-US" sz="1150" dirty="0"/>
          </a:p>
        </p:txBody>
      </p:sp>
      <p:sp>
        <p:nvSpPr>
          <p:cNvPr id="24" name="Shape 22"/>
          <p:cNvSpPr/>
          <p:nvPr/>
        </p:nvSpPr>
        <p:spPr>
          <a:xfrm>
            <a:off x="1897380" y="3840480"/>
            <a:ext cx="868680" cy="256032"/>
          </a:xfrm>
          <a:prstGeom prst="roundRect">
            <a:avLst>
              <a:gd name="adj" fmla="val 28571"/>
            </a:avLst>
          </a:prstGeom>
          <a:solidFill>
            <a:srgbClr val="8C97A8"/>
          </a:solidFill>
          <a:ln/>
        </p:spPr>
      </p:sp>
      <p:sp>
        <p:nvSpPr>
          <p:cNvPr id="25" name="Text 23"/>
          <p:cNvSpPr txBox="1"/>
          <p:nvPr/>
        </p:nvSpPr>
        <p:spPr>
          <a:xfrm>
            <a:off x="1874520" y="3840480"/>
            <a:ext cx="91440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NON COMMENCÉ</a:t>
            </a:r>
            <a:endParaRPr lang="en-US" sz="800" dirty="0"/>
          </a:p>
        </p:txBody>
      </p:sp>
      <p:sp>
        <p:nvSpPr>
          <p:cNvPr id="26" name="Text 24"/>
          <p:cNvSpPr txBox="1"/>
          <p:nvPr/>
        </p:nvSpPr>
        <p:spPr>
          <a:xfrm>
            <a:off x="1874520" y="4187952"/>
            <a:ext cx="914400" cy="274320"/>
          </a:xfrm>
          <a:prstGeom prst="rect">
            <a:avLst/>
          </a:prstGeom>
          <a:noFill/>
          <a:ln/>
        </p:spPr>
        <p:txBody>
          <a:bodyPr wrap="square" lIns="0" tIns="0" rIns="0" bIns="0" rtlCol="0" anchor="ctr"/>
          <a:lstStyle/>
          <a:p>
            <a:pPr algn="ctr" indent="0" marL="0">
              <a:buNone/>
            </a:pPr>
            <a:r>
              <a:rPr lang="en-US" sz="1300" b="1" dirty="0">
                <a:solidFill>
                  <a:srgbClr val="2E7D32"/>
                </a:solidFill>
                <a:latin typeface="Calibri" pitchFamily="34" charset="0"/>
                <a:ea typeface="Calibri" pitchFamily="34" charset="-122"/>
                <a:cs typeface="Calibri" pitchFamily="34" charset="-120"/>
              </a:rPr>
              <a:t>0%</a:t>
            </a:r>
            <a:endParaRPr lang="en-US" sz="1300" dirty="0"/>
          </a:p>
        </p:txBody>
      </p:sp>
      <p:sp>
        <p:nvSpPr>
          <p:cNvPr id="27" name="Text 25"/>
          <p:cNvSpPr txBox="1"/>
          <p:nvPr/>
        </p:nvSpPr>
        <p:spPr>
          <a:xfrm>
            <a:off x="2880360" y="3410712"/>
            <a:ext cx="3108960" cy="1444752"/>
          </a:xfrm>
          <a:prstGeom prst="rect">
            <a:avLst/>
          </a:prstGeom>
          <a:noFill/>
          <a:ln/>
        </p:spPr>
        <p:txBody>
          <a:bodyPr wrap="square" lIns="0" tIns="0" rIns="0" bIns="0" rtlCol="0" anchor="ctr"/>
          <a:lstStyle/>
          <a:p>
            <a:pPr algn="l" indent="0" marL="0">
              <a:lnSpc>
                <a:spcPct val="105000"/>
              </a:lnSpc>
              <a:buNone/>
            </a:pPr>
            <a:r>
              <a:rPr lang="en-US" sz="900" i="1" dirty="0">
                <a:solidFill>
                  <a:srgbClr val="6B7280"/>
                </a:solidFill>
                <a:latin typeface="Calibri" pitchFamily="34" charset="0"/>
                <a:ea typeface="Calibri" pitchFamily="34" charset="-122"/>
                <a:cs typeface="Calibri" pitchFamily="34" charset="-120"/>
              </a:rPr>
              <a:t>Développement des requêtes des nouveaux contrôles CPN2 et CPN1.</a:t>
            </a:r>
            <a:endParaRPr lang="en-US" sz="900" dirty="0"/>
          </a:p>
        </p:txBody>
      </p:sp>
      <p:sp>
        <p:nvSpPr>
          <p:cNvPr id="28" name="Text 26"/>
          <p:cNvSpPr txBox="1"/>
          <p:nvPr/>
        </p:nvSpPr>
        <p:spPr>
          <a:xfrm>
            <a:off x="6217920" y="3410712"/>
            <a:ext cx="2148840" cy="1444752"/>
          </a:xfrm>
          <a:prstGeom prst="rect">
            <a:avLst/>
          </a:prstGeom>
          <a:noFill/>
          <a:ln/>
        </p:spPr>
        <p:txBody>
          <a:bodyPr wrap="square" lIns="0" tIns="0" rIns="0" bIns="0" rtlCol="0" anchor="ctr"/>
          <a:lstStyle/>
          <a:p>
            <a:pPr algn="l" marL="342900" indent="-342900">
              <a:lnSpc>
                <a:spcPct val="105000"/>
              </a:lnSpc>
              <a:spcAft>
                <a:spcPts val="400"/>
              </a:spcAft>
              <a:buSzPct val="100000"/>
              <a:buChar char="•"/>
            </a:pPr>
            <a:r>
              <a:rPr lang="en-US" sz="950" dirty="0">
                <a:solidFill>
                  <a:srgbClr val="2A2A2A"/>
                </a:solidFill>
                <a:latin typeface="Calibri" pitchFamily="34" charset="0"/>
                <a:ea typeface="Calibri" pitchFamily="34" charset="-122"/>
                <a:cs typeface="Calibri" pitchFamily="34" charset="-120"/>
              </a:rPr>
              <a:t>Développer les requêtes des nouveaux contrôles CPN1 et CPN2</a:t>
            </a:r>
            <a:endParaRPr lang="en-US" sz="950" dirty="0"/>
          </a:p>
        </p:txBody>
      </p:sp>
      <p:sp>
        <p:nvSpPr>
          <p:cNvPr id="29" name="Text 27"/>
          <p:cNvSpPr txBox="1"/>
          <p:nvPr/>
        </p:nvSpPr>
        <p:spPr>
          <a:xfrm>
            <a:off x="8595360" y="3355848"/>
            <a:ext cx="1097280" cy="1554480"/>
          </a:xfrm>
          <a:prstGeom prst="rect">
            <a:avLst/>
          </a:prstGeom>
          <a:noFill/>
          <a:ln/>
        </p:spPr>
        <p:txBody>
          <a:bodyPr wrap="square" lIns="0" tIns="0" rIns="0" bIns="0" rtlCol="0" anchor="ctr"/>
          <a:lstStyle/>
          <a:p>
            <a:pPr algn="ctr" indent="0" marL="0">
              <a:buNone/>
            </a:pPr>
            <a:r>
              <a:rPr lang="en-US" sz="950" dirty="0">
                <a:solidFill>
                  <a:srgbClr val="2A2A2A"/>
                </a:solidFill>
                <a:latin typeface="Calibri" pitchFamily="34" charset="0"/>
                <a:ea typeface="Calibri" pitchFamily="34" charset="-122"/>
                <a:cs typeface="Calibri" pitchFamily="34" charset="-120"/>
              </a:rPr>
              <a:t>10/09/2026</a:t>
            </a:r>
            <a:endParaRPr lang="en-US" sz="950" dirty="0"/>
          </a:p>
        </p:txBody>
      </p:sp>
      <p:sp>
        <p:nvSpPr>
          <p:cNvPr id="30" name="Text 28"/>
          <p:cNvSpPr txBox="1"/>
          <p:nvPr/>
        </p:nvSpPr>
        <p:spPr>
          <a:xfrm>
            <a:off x="9875520" y="3355848"/>
            <a:ext cx="1828800" cy="1554480"/>
          </a:xfrm>
          <a:prstGeom prst="rect">
            <a:avLst/>
          </a:prstGeom>
          <a:noFill/>
          <a:ln/>
        </p:spPr>
        <p:txBody>
          <a:bodyPr wrap="square" lIns="0" tIns="0" rIns="0" bIns="0" rtlCol="0" anchor="ctr"/>
          <a:lstStyle/>
          <a:p>
            <a:pPr algn="ctr" indent="0" marL="0">
              <a:buNone/>
            </a:pPr>
            <a:r>
              <a:rPr lang="en-US" sz="1000" dirty="0">
                <a:solidFill>
                  <a:srgbClr val="2A2A2A"/>
                </a:solidFill>
                <a:latin typeface="Calibri" pitchFamily="34" charset="0"/>
                <a:ea typeface="Calibri" pitchFamily="34" charset="-122"/>
                <a:cs typeface="Calibri" pitchFamily="34" charset="-120"/>
              </a:rPr>
              <a:t>B.M</a:t>
            </a:r>
            <a:endParaRPr lang="en-US" sz="1000" dirty="0"/>
          </a:p>
        </p:txBody>
      </p:sp>
      <p:sp>
        <p:nvSpPr>
          <p:cNvPr id="31" name="Text 29"/>
          <p:cNvSpPr txBox="1"/>
          <p:nvPr/>
        </p:nvSpPr>
        <p:spPr>
          <a:xfrm>
            <a:off x="365760" y="6446520"/>
            <a:ext cx="7315200" cy="274320"/>
          </a:xfrm>
          <a:prstGeom prst="rect">
            <a:avLst/>
          </a:prstGeom>
          <a:noFill/>
          <a:ln/>
        </p:spPr>
        <p:txBody>
          <a:bodyPr wrap="square" lIns="0" tIns="0" rIns="0" bIns="0" rtlCol="0" anchor="ctr"/>
          <a:lstStyle/>
          <a:p>
            <a:pPr indent="0" marL="0">
              <a:buNone/>
            </a:pPr>
            <a:r>
              <a:rPr lang="en-US" sz="950" b="1" dirty="0">
                <a:solidFill>
                  <a:srgbClr val="6B7280"/>
                </a:solidFill>
                <a:latin typeface="Calibri" pitchFamily="34" charset="0"/>
                <a:ea typeface="Calibri" pitchFamily="34" charset="-122"/>
                <a:cs typeface="Calibri" pitchFamily="34" charset="-120"/>
              </a:rPr>
              <a:t>Statut :  </a:t>
            </a:r>
            <a:pPr indent="0" marL="0">
              <a:buNone/>
            </a:pPr>
            <a:r>
              <a:rPr lang="en-US" sz="950" b="1" dirty="0">
                <a:solidFill>
                  <a:srgbClr val="D97D4A"/>
                </a:solidFill>
                <a:latin typeface="Calibri" pitchFamily="34" charset="0"/>
                <a:ea typeface="Calibri" pitchFamily="34" charset="-122"/>
                <a:cs typeface="Calibri" pitchFamily="34" charset="-120"/>
              </a:rPr>
              <a:t>Orange = En cours   </a:t>
            </a:r>
            <a:pPr indent="0" marL="0">
              <a:buNone/>
            </a:pPr>
            <a:r>
              <a:rPr lang="en-US" sz="950" b="1" dirty="0">
                <a:solidFill>
                  <a:srgbClr val="8C97A8"/>
                </a:solidFill>
                <a:latin typeface="Calibri" pitchFamily="34" charset="0"/>
                <a:ea typeface="Calibri" pitchFamily="34" charset="-122"/>
                <a:cs typeface="Calibri" pitchFamily="34" charset="-120"/>
              </a:rPr>
              <a:t>Gris = Non commencé</a:t>
            </a:r>
            <a:endParaRPr lang="en-US" sz="950" dirty="0"/>
          </a:p>
        </p:txBody>
      </p:sp>
      <p:sp>
        <p:nvSpPr>
          <p:cNvPr id="32" name="Text 30"/>
          <p:cNvSpPr txBox="1"/>
          <p:nvPr/>
        </p:nvSpPr>
        <p:spPr>
          <a:xfrm>
            <a:off x="7680960" y="6446520"/>
            <a:ext cx="4144975"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Mise à jour : 02/09/2026</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2026-09-02T12:24:43Z</dcterms:created>
  <dcterms:modified xsi:type="dcterms:W3CDTF">2026-09-02T12:24:43Z</dcterms:modified>
</cp:coreProperties>
</file>